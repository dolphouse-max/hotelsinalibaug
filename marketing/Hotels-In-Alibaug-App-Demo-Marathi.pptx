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webp" ContentType="image/webp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1" d="100"/>
          <a:sy n="51" d="100"/>
        </p:scale>
        <p:origin x="898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D10F0A-6A7D-87A5-27D8-D3C6F607380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B5CCF4E-A650-C9B9-8BE4-E563D077AD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7F5195-2EF7-4993-DFAA-0175B81158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E50BCA-8278-49CF-B53F-5922809775F3}" type="datetimeFigureOut">
              <a:rPr lang="en-IN" smtClean="0"/>
              <a:t>20-07-2026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1D314C-0FC5-9EA0-69A8-1C7427D270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920BF0-6615-2EFC-1C6D-E2B2366D60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3C1A03-A496-4D7E-ABFF-EFD5B213372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097184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27FE93-46EE-3E38-8C9B-83B2CD5CBF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575CA4-6772-8225-1880-FA7E12D850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CDAEF5-5B3A-DA9B-C4DE-5CDF3BB510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E50BCA-8278-49CF-B53F-5922809775F3}" type="datetimeFigureOut">
              <a:rPr lang="en-IN" smtClean="0"/>
              <a:t>20-07-2026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134DA9-E450-3A06-B911-4AAA68CADD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944B8D-FF0F-2ABF-626C-DDD510BE71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3C1A03-A496-4D7E-ABFF-EFD5B213372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511041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37244-DC84-2111-8DEB-2719731520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CEC521-195D-F47C-4759-F83856FB21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05E1CD-E2E9-6565-21E5-8C5B51EA3D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E50BCA-8278-49CF-B53F-5922809775F3}" type="datetimeFigureOut">
              <a:rPr lang="en-IN" smtClean="0"/>
              <a:t>20-07-2026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CB032A-4D37-001C-3E26-446FEF6016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4C5DB0-27B6-37BD-FAC8-0C452C2191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3C1A03-A496-4D7E-ABFF-EFD5B213372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341980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DB33A7-A28C-E520-B78A-B55688F81B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CC7FD5-9D5B-286B-FE9D-F2702E300B5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AD2E53D-CCBD-35D1-0F67-51638DCD1A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CE8936B-C5C1-233F-CA38-964216E6D8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E50BCA-8278-49CF-B53F-5922809775F3}" type="datetimeFigureOut">
              <a:rPr lang="en-IN" smtClean="0"/>
              <a:t>20-07-2026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6E10087-406E-1757-6B8F-6C30F748C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A9D463-8873-DD29-CEBC-2A5D574482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3C1A03-A496-4D7E-ABFF-EFD5B213372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627234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B2C7CB-143C-1724-17ED-5CF699F4FE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E1B30B-84DF-E2D6-B0CA-BDAEE84466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D33CEF-7881-49A3-E24C-F33F9CB943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58D891E-FAA3-9250-57CE-5C433178593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99D606A-84EA-2C10-FD57-BAD1D6B6B84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BA4E5B0-8CB4-B7CA-3BA0-610A8B3B62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E50BCA-8278-49CF-B53F-5922809775F3}" type="datetimeFigureOut">
              <a:rPr lang="en-IN" smtClean="0"/>
              <a:t>20-07-2026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28027AA-3B9A-F3B3-0903-D9384658FF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173AB0E-C20C-3F4A-0450-9C4C198EE4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3C1A03-A496-4D7E-ABFF-EFD5B213372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635873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C5DCC9-73F2-56AF-B4E7-C08B782EAE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71E51B5-42EA-2093-64AE-DAA70C5E43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E50BCA-8278-49CF-B53F-5922809775F3}" type="datetimeFigureOut">
              <a:rPr lang="en-IN" smtClean="0"/>
              <a:t>20-07-2026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F0BFA03-23C3-0168-1856-3BE0213411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FFBFC8-CF72-42C1-FA68-2EBEBD07AE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3C1A03-A496-4D7E-ABFF-EFD5B213372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01708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0794D59-B778-3305-E9E7-8B4D9C35F3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E50BCA-8278-49CF-B53F-5922809775F3}" type="datetimeFigureOut">
              <a:rPr lang="en-IN" smtClean="0"/>
              <a:t>20-07-2026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B8CDEBF-9375-E573-F3F8-EAEB6A8EEB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801B00-C7F2-00A7-0E0A-8CC696D9E9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3C1A03-A496-4D7E-ABFF-EFD5B213372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452067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B2A6CD-1694-0F77-3275-66B0709F94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1A9ED9-315C-F9A8-F5A7-AAAC7367F9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506AFA-6917-E21B-2129-0CC01E1EB4B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2CFD97-BF3E-C9FA-DD35-C3BD1A656D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E50BCA-8278-49CF-B53F-5922809775F3}" type="datetimeFigureOut">
              <a:rPr lang="en-IN" smtClean="0"/>
              <a:t>20-07-2026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DABE36-3272-7D22-36F2-46C1281042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18DD0FD-DED4-F023-BB86-70530A3B41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3C1A03-A496-4D7E-ABFF-EFD5B213372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69121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B7C4F2-3B76-25FA-5EFA-FD05C516D4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6E03E32-705C-F6F7-A890-A503C2C77EE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A833B57-BE05-3A4F-7391-BC7CEFF1B9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B0651D4-D767-1EA1-75E1-AFFDCEE4E5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E50BCA-8278-49CF-B53F-5922809775F3}" type="datetimeFigureOut">
              <a:rPr lang="en-IN" smtClean="0"/>
              <a:t>20-07-2026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50DAC8-2BD7-38A5-FFA9-DD6B26B25E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40C0CD-9404-0BC6-3D11-997E25BB33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3C1A03-A496-4D7E-ABFF-EFD5B213372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95562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439F3B-E161-C3A1-A595-167571AD2F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398848B-1127-5DFF-DF86-B6C9B66188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0E0226-DEE5-101B-4CC6-6E1454E193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E50BCA-8278-49CF-B53F-5922809775F3}" type="datetimeFigureOut">
              <a:rPr lang="en-IN" smtClean="0"/>
              <a:t>20-07-2026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5E025A-2D8B-611F-7C60-AC88DDF666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0C7BD7-9EE1-5C4A-AA57-3B2C9C915A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3C1A03-A496-4D7E-ABFF-EFD5B213372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467066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62E92C8-3E03-1808-7F60-A9698B41C3C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9629210-A018-72CC-E63B-667B700C205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5382CD-EC9A-0921-D780-8028F59B4A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E50BCA-8278-49CF-B53F-5922809775F3}" type="datetimeFigureOut">
              <a:rPr lang="en-IN" smtClean="0"/>
              <a:t>20-07-2026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369340-2945-3B3E-FCD2-781DF418D8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8B131E-F5C8-F202-1DBF-F2D8E9268B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3C1A03-A496-4D7E-ABFF-EFD5B213372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8305833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0F01AD-6941-C1E6-C4AA-4A167AC9E5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72BC6A-ECD0-E6A6-4D32-58794E273F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F61BD5-4F62-7EF7-1FF4-A8B7713C7B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E50BCA-8278-49CF-B53F-5922809775F3}" type="datetimeFigureOut">
              <a:rPr lang="en-IN" smtClean="0"/>
              <a:t>20-07-2026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6945F3-B0C8-BB75-6424-F144F12EC6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A632E0-72D1-CB99-F3E6-154943020A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3C1A03-A496-4D7E-ABFF-EFD5B213372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22331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5467A94-8C83-18F0-F03A-8256FE35E2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0883E5D-E322-85F7-4734-7B88BD37B9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4CE561-8F66-9C21-E1A0-7375B64DAB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1E50BCA-8278-49CF-B53F-5922809775F3}" type="datetimeFigureOut">
              <a:rPr lang="en-IN" smtClean="0"/>
              <a:t>20-07-2026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20AC85-4F0C-FA00-6C3B-6EF6261CB2B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B0BF04-E73D-540E-6E06-AD8A454239B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C3C1A03-A496-4D7E-ABFF-EFD5B213372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639596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webp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webp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4A6EA0-AEB1-D805-D535-7B95F292B7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D7AE5A8-2248-11AE-79AA-0CC48052AA43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3DC98369-FD52-0530-3680-81B9EB67270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0606">
              <a:alpha val="72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546FC81-F0B1-BA70-409E-C0C52462527E}"/>
              </a:ext>
            </a:extLst>
          </p:cNvPr>
          <p:cNvSpPr txBox="1"/>
          <p:nvPr/>
        </p:nvSpPr>
        <p:spPr>
          <a:xfrm>
            <a:off x="762000" y="1524000"/>
            <a:ext cx="9652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2800" b="1">
                <a:solidFill>
                  <a:srgbClr val="FFFFFF"/>
                </a:solidFill>
                <a:latin typeface="Aptos Display" panose="020B0004020202020204" pitchFamily="34" charset="0"/>
              </a:rPr>
              <a:t>Hotels In Alibaug </a:t>
            </a:r>
            <a:r>
              <a:rPr lang="hi-IN" sz="2800" b="1">
                <a:solidFill>
                  <a:srgbClr val="FFFFFF"/>
                </a:solidFill>
                <a:latin typeface="Aptos Display" panose="020B0004020202020204" pitchFamily="34" charset="0"/>
              </a:rPr>
              <a:t>गेस्ट चेक-इन अॅप</a:t>
            </a:r>
            <a:endParaRPr lang="en-IN" sz="2800" b="1">
              <a:solidFill>
                <a:srgbClr val="FFFFFF"/>
              </a:solidFill>
              <a:latin typeface="Aptos Display" panose="020B00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CEC2FEE-B3E7-6674-DEC4-3994DF0B3709}"/>
              </a:ext>
            </a:extLst>
          </p:cNvPr>
          <p:cNvSpPr txBox="1"/>
          <p:nvPr/>
        </p:nvSpPr>
        <p:spPr>
          <a:xfrm>
            <a:off x="762000" y="3683000"/>
            <a:ext cx="9652000" cy="3693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>
                <a:solidFill>
                  <a:srgbClr val="FFFFFF"/>
                </a:solidFill>
                <a:latin typeface="Aptos" panose="020B0004020202020204" pitchFamily="34" charset="0"/>
              </a:rPr>
              <a:t>हॉटेल, रिसॉर्ट, लॉज आणि होमस्टे साठी 2 मिनिटांची डेमो प्रेझेंटेशन</a:t>
            </a:r>
            <a:endParaRPr lang="en-IN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769345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436C53-A737-BABE-ACE4-5BFB49FAD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i-IN" sz="2400" b="1">
                <a:solidFill>
                  <a:srgbClr val="44331A"/>
                </a:solidFill>
                <a:latin typeface="Aptos Display" panose="020B0004020202020204" pitchFamily="34" charset="0"/>
              </a:rPr>
              <a:t>1. एकच प्रायव्हेट हॉटेल डॅशबोर्ड</a:t>
            </a:r>
            <a:endParaRPr lang="en-IN" sz="2400" b="1">
              <a:solidFill>
                <a:srgbClr val="44331A"/>
              </a:solidFill>
              <a:latin typeface="Aptos Display" panose="020B0004020202020204" pitchFamily="34" charset="0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19BF10-A856-DFA9-5E50-6CB5BADBEA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6400" y="1397000"/>
            <a:ext cx="4826000" cy="4572000"/>
          </a:xfrm>
        </p:spPr>
        <p:txBody>
          <a:bodyPr>
            <a:normAutofit/>
          </a:bodyPr>
          <a:lstStyle/>
          <a:p>
            <a:r>
              <a:rPr lang="hi-IN" sz="1900">
                <a:solidFill>
                  <a:srgbClr val="44331A"/>
                </a:solidFill>
                <a:latin typeface="Aptos" panose="020B0004020202020204" pitchFamily="34" charset="0"/>
              </a:rPr>
              <a:t>• संपूर्ण हॉटेल कामकाजासाठी एक मोबाइल-फ्रेंडली मुख्य पेज</a:t>
            </a:r>
          </a:p>
          <a:p>
            <a:r>
              <a:rPr lang="hi-IN" sz="1900">
                <a:solidFill>
                  <a:srgbClr val="44331A"/>
                </a:solidFill>
                <a:latin typeface="Aptos" panose="020B0004020202020204" pitchFamily="34" charset="0"/>
              </a:rPr>
              <a:t>• प्रोफाइल, गेस्ट </a:t>
            </a:r>
            <a:r>
              <a:rPr lang="en-IN" sz="1900">
                <a:solidFill>
                  <a:srgbClr val="44331A"/>
                </a:solidFill>
                <a:latin typeface="Aptos" panose="020B0004020202020204" pitchFamily="34" charset="0"/>
              </a:rPr>
              <a:t>QR, </a:t>
            </a:r>
            <a:r>
              <a:rPr lang="hi-IN" sz="1900">
                <a:solidFill>
                  <a:srgbClr val="44331A"/>
                </a:solidFill>
                <a:latin typeface="Aptos" panose="020B0004020202020204" pitchFamily="34" charset="0"/>
              </a:rPr>
              <a:t>स्टाफ, बुकिंग, रिपोर्ट्स आणि अलर्ट्स एकाच ठिकाणी</a:t>
            </a:r>
          </a:p>
          <a:p>
            <a:r>
              <a:rPr lang="hi-IN" sz="1900">
                <a:solidFill>
                  <a:srgbClr val="44331A"/>
                </a:solidFill>
                <a:latin typeface="Aptos" panose="020B0004020202020204" pitchFamily="34" charset="0"/>
              </a:rPr>
              <a:t>• रिसेप्शन आणि मालक दोघांसाठी सोपे वापरणे</a:t>
            </a:r>
            <a:endParaRPr lang="en-IN" sz="1900">
              <a:solidFill>
                <a:srgbClr val="44331A"/>
              </a:solidFill>
              <a:latin typeface="Aptos" panose="020B00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A091F78-79CA-D2B9-50EC-508D8CF9434B}"/>
              </a:ext>
            </a:extLst>
          </p:cNvPr>
          <p:cNvSpPr/>
          <p:nvPr/>
        </p:nvSpPr>
        <p:spPr>
          <a:xfrm>
            <a:off x="5638800" y="1447800"/>
            <a:ext cx="5994400" cy="3962400"/>
          </a:xfrm>
          <a:prstGeom prst="rect">
            <a:avLst/>
          </a:prstGeom>
          <a:noFill/>
          <a:ln w="19050" cap="flat" cmpd="sng" algn="ctr">
            <a:solidFill>
              <a:srgbClr val="DAEA0D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DDC9A43-6C28-5C0F-0DC0-344A062C1F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5000" y="1524000"/>
            <a:ext cx="5842000" cy="381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7128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704CF4-7837-6224-9AFC-D01B2DA777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2400" b="1">
                <a:solidFill>
                  <a:srgbClr val="44331A"/>
                </a:solidFill>
                <a:latin typeface="Aptos Display" panose="020B0004020202020204" pitchFamily="34" charset="0"/>
              </a:rPr>
              <a:t>2. QR </a:t>
            </a:r>
            <a:r>
              <a:rPr lang="hi-IN" sz="2400" b="1">
                <a:solidFill>
                  <a:srgbClr val="44331A"/>
                </a:solidFill>
                <a:latin typeface="Aptos Display" panose="020B0004020202020204" pitchFamily="34" charset="0"/>
              </a:rPr>
              <a:t>द्वारे गेस्ट सेल्फ चेक-इन</a:t>
            </a:r>
            <a:endParaRPr lang="en-IN" sz="2400" b="1">
              <a:solidFill>
                <a:srgbClr val="44331A"/>
              </a:solidFill>
              <a:latin typeface="Aptos Display" panose="020B0004020202020204" pitchFamily="34" charset="0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2B011A-FF89-9B25-96C6-28136CBC0B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6400" y="1397000"/>
            <a:ext cx="4826000" cy="4572000"/>
          </a:xfrm>
        </p:spPr>
        <p:txBody>
          <a:bodyPr>
            <a:normAutofit/>
          </a:bodyPr>
          <a:lstStyle/>
          <a:p>
            <a:r>
              <a:rPr lang="hi-IN" sz="1900">
                <a:solidFill>
                  <a:srgbClr val="44331A"/>
                </a:solidFill>
                <a:latin typeface="Aptos" panose="020B0004020202020204" pitchFamily="34" charset="0"/>
              </a:rPr>
              <a:t>• रिसेप्शनवरून गेस्ट </a:t>
            </a:r>
            <a:r>
              <a:rPr lang="en-IN" sz="1900">
                <a:solidFill>
                  <a:srgbClr val="44331A"/>
                </a:solidFill>
                <a:latin typeface="Aptos" panose="020B0004020202020204" pitchFamily="34" charset="0"/>
              </a:rPr>
              <a:t>QR </a:t>
            </a:r>
            <a:r>
              <a:rPr lang="hi-IN" sz="1900">
                <a:solidFill>
                  <a:srgbClr val="44331A"/>
                </a:solidFill>
                <a:latin typeface="Aptos" panose="020B0004020202020204" pitchFamily="34" charset="0"/>
              </a:rPr>
              <a:t>तयार करता येतो</a:t>
            </a:r>
          </a:p>
          <a:p>
            <a:r>
              <a:rPr lang="hi-IN" sz="1900">
                <a:solidFill>
                  <a:srgbClr val="44331A"/>
                </a:solidFill>
                <a:latin typeface="Aptos" panose="020B0004020202020204" pitchFamily="34" charset="0"/>
              </a:rPr>
              <a:t>• गेस्ट स्वतःच्या मोबाईलवर तपशील भरतो</a:t>
            </a:r>
          </a:p>
          <a:p>
            <a:r>
              <a:rPr lang="hi-IN" sz="1900">
                <a:solidFill>
                  <a:srgbClr val="44331A"/>
                </a:solidFill>
                <a:latin typeface="Aptos" panose="020B0004020202020204" pitchFamily="34" charset="0"/>
              </a:rPr>
              <a:t>• मॅन्युअल लिहिण्याचे काम कमी होते</a:t>
            </a:r>
            <a:endParaRPr lang="en-IN" sz="1900">
              <a:solidFill>
                <a:srgbClr val="44331A"/>
              </a:solidFill>
              <a:latin typeface="Aptos" panose="020B00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A2EC4D1-AC7B-6B11-157F-B3849656D229}"/>
              </a:ext>
            </a:extLst>
          </p:cNvPr>
          <p:cNvSpPr/>
          <p:nvPr/>
        </p:nvSpPr>
        <p:spPr>
          <a:xfrm>
            <a:off x="5638800" y="1447800"/>
            <a:ext cx="5994400" cy="3962400"/>
          </a:xfrm>
          <a:prstGeom prst="rect">
            <a:avLst/>
          </a:prstGeom>
          <a:noFill/>
          <a:ln w="19050" cap="flat" cmpd="sng" algn="ctr">
            <a:solidFill>
              <a:srgbClr val="DAEA0D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309398A-CF4D-D4C0-21B5-D890FA8D18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5000" y="1524000"/>
            <a:ext cx="5842000" cy="381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31160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936F5-5167-AA20-35BF-83756E1140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i-IN" sz="2400" b="1">
                <a:solidFill>
                  <a:srgbClr val="44331A"/>
                </a:solidFill>
                <a:latin typeface="Aptos Display" panose="020B0004020202020204" pitchFamily="34" charset="0"/>
              </a:rPr>
              <a:t>3. फॅमिली रूम एंट्री</a:t>
            </a:r>
            <a:endParaRPr lang="en-IN" sz="2400" b="1">
              <a:solidFill>
                <a:srgbClr val="44331A"/>
              </a:solidFill>
              <a:latin typeface="Aptos Display" panose="020B0004020202020204" pitchFamily="34" charset="0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3CD457-70A7-C616-1435-CFE380B0CA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6400" y="1397000"/>
            <a:ext cx="4826000" cy="4572000"/>
          </a:xfrm>
        </p:spPr>
        <p:txBody>
          <a:bodyPr>
            <a:normAutofit/>
          </a:bodyPr>
          <a:lstStyle/>
          <a:p>
            <a:r>
              <a:rPr lang="hi-IN" sz="1900">
                <a:solidFill>
                  <a:srgbClr val="44331A"/>
                </a:solidFill>
                <a:latin typeface="Aptos" panose="020B0004020202020204" pitchFamily="34" charset="0"/>
              </a:rPr>
              <a:t>• एकाच रूममध्ये मुख्य गेस्टसोबत इतर कुटुंब सदस्य जोडता येतात</a:t>
            </a:r>
          </a:p>
          <a:p>
            <a:r>
              <a:rPr lang="hi-IN" sz="1900">
                <a:solidFill>
                  <a:srgbClr val="44331A"/>
                </a:solidFill>
                <a:latin typeface="Aptos" panose="020B0004020202020204" pitchFamily="34" charset="0"/>
              </a:rPr>
              <a:t>• प्रत्येकासाठी आयडी प्रूफ रेकॉर्ड ठेवता येतो</a:t>
            </a:r>
          </a:p>
          <a:p>
            <a:r>
              <a:rPr lang="hi-IN" sz="1900">
                <a:solidFill>
                  <a:srgbClr val="44331A"/>
                </a:solidFill>
                <a:latin typeface="Aptos" panose="020B0004020202020204" pitchFamily="34" charset="0"/>
              </a:rPr>
              <a:t>• फॅमिली बुकिंगसाठी उपयुक्त डिजिटल रजिस्टर</a:t>
            </a:r>
            <a:endParaRPr lang="en-IN" sz="1900">
              <a:solidFill>
                <a:srgbClr val="44331A"/>
              </a:solidFill>
              <a:latin typeface="Aptos" panose="020B00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B0D3CD7-A043-A200-51BC-C435C9DB6FE1}"/>
              </a:ext>
            </a:extLst>
          </p:cNvPr>
          <p:cNvSpPr/>
          <p:nvPr/>
        </p:nvSpPr>
        <p:spPr>
          <a:xfrm>
            <a:off x="5638800" y="1447800"/>
            <a:ext cx="5994400" cy="3962400"/>
          </a:xfrm>
          <a:prstGeom prst="rect">
            <a:avLst/>
          </a:prstGeom>
          <a:noFill/>
          <a:ln w="19050" cap="flat" cmpd="sng" algn="ctr">
            <a:solidFill>
              <a:srgbClr val="DAEA0D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A6E9FF8-B11A-E77E-02B7-F6B230F80B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5000" y="1524000"/>
            <a:ext cx="5842000" cy="381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69511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CA048B-884D-06C6-2181-E48F3B1043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i-IN" sz="2400" b="1">
                <a:solidFill>
                  <a:srgbClr val="44331A"/>
                </a:solidFill>
                <a:latin typeface="Aptos Display" panose="020B0004020202020204" pitchFamily="34" charset="0"/>
              </a:rPr>
              <a:t>4. हॉटेलच्या मालकीचे </a:t>
            </a:r>
            <a:r>
              <a:rPr lang="en-IN" sz="2400" b="1">
                <a:solidFill>
                  <a:srgbClr val="44331A"/>
                </a:solidFill>
                <a:latin typeface="Aptos Display" panose="020B0004020202020204" pitchFamily="34" charset="0"/>
              </a:rPr>
              <a:t>Google Drive </a:t>
            </a:r>
            <a:r>
              <a:rPr lang="hi-IN" sz="2400" b="1">
                <a:solidFill>
                  <a:srgbClr val="44331A"/>
                </a:solidFill>
                <a:latin typeface="Aptos Display" panose="020B0004020202020204" pitchFamily="34" charset="0"/>
              </a:rPr>
              <a:t>स्टोरेज</a:t>
            </a:r>
            <a:endParaRPr lang="en-IN" sz="2400" b="1">
              <a:solidFill>
                <a:srgbClr val="44331A"/>
              </a:solidFill>
              <a:latin typeface="Aptos Display" panose="020B0004020202020204" pitchFamily="34" charset="0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037DBAE-FA1C-C4D1-5B62-D24B4E7C67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6400" y="1397000"/>
            <a:ext cx="4826000" cy="4572000"/>
          </a:xfrm>
        </p:spPr>
        <p:txBody>
          <a:bodyPr>
            <a:normAutofit/>
          </a:bodyPr>
          <a:lstStyle/>
          <a:p>
            <a:r>
              <a:rPr lang="hi-IN" sz="1900">
                <a:solidFill>
                  <a:srgbClr val="44331A"/>
                </a:solidFill>
                <a:latin typeface="Aptos" panose="020B0004020202020204" pitchFamily="34" charset="0"/>
              </a:rPr>
              <a:t>• गेस्ट आणि स्टाफ प्रूफ इमेजेस हॉटेलच्या स्वतःच्या </a:t>
            </a:r>
            <a:r>
              <a:rPr lang="en-IN" sz="1900">
                <a:solidFill>
                  <a:srgbClr val="44331A"/>
                </a:solidFill>
                <a:latin typeface="Aptos" panose="020B0004020202020204" pitchFamily="34" charset="0"/>
              </a:rPr>
              <a:t>Google Drive </a:t>
            </a:r>
            <a:r>
              <a:rPr lang="hi-IN" sz="1900">
                <a:solidFill>
                  <a:srgbClr val="44331A"/>
                </a:solidFill>
                <a:latin typeface="Aptos" panose="020B0004020202020204" pitchFamily="34" charset="0"/>
              </a:rPr>
              <a:t>मध्ये साठवल्या जातात</a:t>
            </a:r>
          </a:p>
          <a:p>
            <a:r>
              <a:rPr lang="hi-IN" sz="1900">
                <a:solidFill>
                  <a:srgbClr val="44331A"/>
                </a:solidFill>
                <a:latin typeface="Aptos" panose="020B0004020202020204" pitchFamily="34" charset="0"/>
              </a:rPr>
              <a:t>• नोंदींची मालकी हॉटेलकडेच राहते</a:t>
            </a:r>
          </a:p>
          <a:p>
            <a:r>
              <a:rPr lang="hi-IN" sz="1900">
                <a:solidFill>
                  <a:srgbClr val="44331A"/>
                </a:solidFill>
                <a:latin typeface="Aptos" panose="020B0004020202020204" pitchFamily="34" charset="0"/>
              </a:rPr>
              <a:t>• पोलीस आणि सुपरअॅडमिन पाहणी नियंत्रित अॅप-अॅक्सेसमधून होते</a:t>
            </a:r>
            <a:endParaRPr lang="en-IN" sz="1900">
              <a:solidFill>
                <a:srgbClr val="44331A"/>
              </a:solidFill>
              <a:latin typeface="Aptos" panose="020B00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0C1674E-4C11-5DB6-81F5-A2260CDAE414}"/>
              </a:ext>
            </a:extLst>
          </p:cNvPr>
          <p:cNvSpPr/>
          <p:nvPr/>
        </p:nvSpPr>
        <p:spPr>
          <a:xfrm>
            <a:off x="5638800" y="1447800"/>
            <a:ext cx="5994400" cy="3962400"/>
          </a:xfrm>
          <a:prstGeom prst="rect">
            <a:avLst/>
          </a:prstGeom>
          <a:noFill/>
          <a:ln w="19050" cap="flat" cmpd="sng" algn="ctr">
            <a:solidFill>
              <a:srgbClr val="DAEA0D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2E0D945-D0F7-CF07-7389-AC199DBE84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5000" y="1524000"/>
            <a:ext cx="5842000" cy="381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44679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E53DA0-37FC-C88E-1692-628F329493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i-IN" sz="2400" b="1">
                <a:solidFill>
                  <a:srgbClr val="44331A"/>
                </a:solidFill>
                <a:latin typeface="Aptos Display" panose="020B0004020202020204" pitchFamily="34" charset="0"/>
              </a:rPr>
              <a:t>5. डिजिटल स्टाफ रजिस्टर</a:t>
            </a:r>
            <a:endParaRPr lang="en-IN" sz="2400" b="1">
              <a:solidFill>
                <a:srgbClr val="44331A"/>
              </a:solidFill>
              <a:latin typeface="Aptos Display" panose="020B0004020202020204" pitchFamily="34" charset="0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016738-FEDF-26C5-2490-2ACCBC5D1B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6400" y="1397000"/>
            <a:ext cx="4826000" cy="4572000"/>
          </a:xfrm>
        </p:spPr>
        <p:txBody>
          <a:bodyPr>
            <a:normAutofit/>
          </a:bodyPr>
          <a:lstStyle/>
          <a:p>
            <a:r>
              <a:rPr lang="hi-IN" sz="1900">
                <a:solidFill>
                  <a:srgbClr val="44331A"/>
                </a:solidFill>
                <a:latin typeface="Aptos" panose="020B0004020202020204" pitchFamily="34" charset="0"/>
              </a:rPr>
              <a:t>• स्टाफची नावे, भूमिका, संपर्क आणि प्रूफ एका ठिकाणी</a:t>
            </a:r>
          </a:p>
          <a:p>
            <a:r>
              <a:rPr lang="hi-IN" sz="1900">
                <a:solidFill>
                  <a:srgbClr val="44331A"/>
                </a:solidFill>
                <a:latin typeface="Aptos" panose="020B0004020202020204" pitchFamily="34" charset="0"/>
              </a:rPr>
              <a:t>• मोबाईलवरून सोपे अपडेट आणि व्यवस्थापन</a:t>
            </a:r>
          </a:p>
          <a:p>
            <a:r>
              <a:rPr lang="hi-IN" sz="1900">
                <a:solidFill>
                  <a:srgbClr val="44331A"/>
                </a:solidFill>
                <a:latin typeface="Aptos" panose="020B0004020202020204" pitchFamily="34" charset="0"/>
              </a:rPr>
              <a:t>• दैनिक कामकाज आणि ऑडिटसाठी उपयुक्त</a:t>
            </a:r>
            <a:endParaRPr lang="en-IN" sz="1900">
              <a:solidFill>
                <a:srgbClr val="44331A"/>
              </a:solidFill>
              <a:latin typeface="Aptos" panose="020B00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87C13A6-540C-1A07-D2E0-8C911FB26534}"/>
              </a:ext>
            </a:extLst>
          </p:cNvPr>
          <p:cNvSpPr/>
          <p:nvPr/>
        </p:nvSpPr>
        <p:spPr>
          <a:xfrm>
            <a:off x="5638800" y="1447800"/>
            <a:ext cx="5994400" cy="3962400"/>
          </a:xfrm>
          <a:prstGeom prst="rect">
            <a:avLst/>
          </a:prstGeom>
          <a:noFill/>
          <a:ln w="19050" cap="flat" cmpd="sng" algn="ctr">
            <a:solidFill>
              <a:srgbClr val="DAEA0D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51E9FFE-D9A9-9D51-84E3-3F95A5F77B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5000" y="1524000"/>
            <a:ext cx="5842000" cy="381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76016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7764A-ABEA-BDBB-3B89-A40AB6363B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i-IN" sz="2400" b="1">
                <a:solidFill>
                  <a:srgbClr val="44331A"/>
                </a:solidFill>
                <a:latin typeface="Aptos Display" panose="020B0004020202020204" pitchFamily="34" charset="0"/>
              </a:rPr>
              <a:t>6. फ्युचर रिझर्वेशन कॅलेंडर</a:t>
            </a:r>
            <a:endParaRPr lang="en-IN" sz="2400" b="1">
              <a:solidFill>
                <a:srgbClr val="44331A"/>
              </a:solidFill>
              <a:latin typeface="Aptos Display" panose="020B0004020202020204" pitchFamily="34" charset="0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7121F5-2B15-059B-1A8A-B083F74251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6400" y="1397000"/>
            <a:ext cx="4826000" cy="4572000"/>
          </a:xfrm>
        </p:spPr>
        <p:txBody>
          <a:bodyPr>
            <a:normAutofit/>
          </a:bodyPr>
          <a:lstStyle/>
          <a:p>
            <a:r>
              <a:rPr lang="hi-IN" sz="1900">
                <a:solidFill>
                  <a:srgbClr val="44331A"/>
                </a:solidFill>
                <a:latin typeface="Aptos" panose="020B0004020202020204" pitchFamily="34" charset="0"/>
              </a:rPr>
              <a:t>• आगामी बुकिंग्स स्पष्ट दिसतात</a:t>
            </a:r>
          </a:p>
          <a:p>
            <a:r>
              <a:rPr lang="hi-IN" sz="1900">
                <a:solidFill>
                  <a:srgbClr val="44331A"/>
                </a:solidFill>
                <a:latin typeface="Aptos" panose="020B0004020202020204" pitchFamily="34" charset="0"/>
              </a:rPr>
              <a:t>• चेक-इन, चेक-आउट आणि ऑक्युपन्सी प्लॅनिंग सोपे होते</a:t>
            </a:r>
          </a:p>
          <a:p>
            <a:r>
              <a:rPr lang="hi-IN" sz="1900">
                <a:solidFill>
                  <a:srgbClr val="44331A"/>
                </a:solidFill>
                <a:latin typeface="Aptos" panose="020B0004020202020204" pitchFamily="34" charset="0"/>
              </a:rPr>
              <a:t>• रिसेप्शन आणि मालक दोघांसाठी उपयोगी</a:t>
            </a:r>
            <a:endParaRPr lang="en-IN" sz="1900">
              <a:solidFill>
                <a:srgbClr val="44331A"/>
              </a:solidFill>
              <a:latin typeface="Aptos" panose="020B00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5FAC902-2D8E-5842-3DDE-C3CB1127B973}"/>
              </a:ext>
            </a:extLst>
          </p:cNvPr>
          <p:cNvSpPr/>
          <p:nvPr/>
        </p:nvSpPr>
        <p:spPr>
          <a:xfrm>
            <a:off x="5638800" y="1447800"/>
            <a:ext cx="5994400" cy="3962400"/>
          </a:xfrm>
          <a:prstGeom prst="rect">
            <a:avLst/>
          </a:prstGeom>
          <a:noFill/>
          <a:ln w="19050" cap="flat" cmpd="sng" algn="ctr">
            <a:solidFill>
              <a:srgbClr val="DAEA0D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ED9A4E-17A0-A4D0-495E-5FE60D5E1D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5000" y="1524000"/>
            <a:ext cx="5842000" cy="381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29476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32522D-2DD1-7777-3AD7-3561B5D6EE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i-IN" sz="2400" b="1">
                <a:solidFill>
                  <a:srgbClr val="44331A"/>
                </a:solidFill>
                <a:latin typeface="Aptos Display" panose="020B0004020202020204" pitchFamily="34" charset="0"/>
              </a:rPr>
              <a:t>7. रोजच्या कामासाठी रिपोर्ट्स</a:t>
            </a:r>
            <a:endParaRPr lang="en-IN" sz="2400" b="1">
              <a:solidFill>
                <a:srgbClr val="44331A"/>
              </a:solidFill>
              <a:latin typeface="Aptos Display" panose="020B0004020202020204" pitchFamily="34" charset="0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EB7531-77B0-2A5B-0296-ED053E5143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6400" y="1397000"/>
            <a:ext cx="4826000" cy="4572000"/>
          </a:xfrm>
        </p:spPr>
        <p:txBody>
          <a:bodyPr>
            <a:normAutofit/>
          </a:bodyPr>
          <a:lstStyle/>
          <a:p>
            <a:r>
              <a:rPr lang="hi-IN" sz="1900">
                <a:solidFill>
                  <a:srgbClr val="44331A"/>
                </a:solidFill>
                <a:latin typeface="Aptos" panose="020B0004020202020204" pitchFamily="34" charset="0"/>
              </a:rPr>
              <a:t>• करंट गेस्ट, गेस्ट रजिस्टर, ऑक्युपन्सी आणि सारांश रिपोर्ट्स</a:t>
            </a:r>
          </a:p>
          <a:p>
            <a:r>
              <a:rPr lang="hi-IN" sz="1900">
                <a:solidFill>
                  <a:srgbClr val="44331A"/>
                </a:solidFill>
                <a:latin typeface="Aptos" panose="020B0004020202020204" pitchFamily="34" charset="0"/>
              </a:rPr>
              <a:t>• पेपर रजिस्टर शोधण्याची गरज कमी</a:t>
            </a:r>
          </a:p>
          <a:p>
            <a:r>
              <a:rPr lang="hi-IN" sz="1900">
                <a:solidFill>
                  <a:srgbClr val="44331A"/>
                </a:solidFill>
                <a:latin typeface="Aptos" panose="020B0004020202020204" pitchFamily="34" charset="0"/>
              </a:rPr>
              <a:t>• मालकाला तयार डेटा तत्काळ मिळतो</a:t>
            </a:r>
            <a:endParaRPr lang="en-IN" sz="1900">
              <a:solidFill>
                <a:srgbClr val="44331A"/>
              </a:solidFill>
              <a:latin typeface="Aptos" panose="020B00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F892374-C014-B879-882F-13A29C8058D9}"/>
              </a:ext>
            </a:extLst>
          </p:cNvPr>
          <p:cNvSpPr/>
          <p:nvPr/>
        </p:nvSpPr>
        <p:spPr>
          <a:xfrm>
            <a:off x="5638800" y="1447800"/>
            <a:ext cx="5994400" cy="3962400"/>
          </a:xfrm>
          <a:prstGeom prst="rect">
            <a:avLst/>
          </a:prstGeom>
          <a:noFill/>
          <a:ln w="19050" cap="flat" cmpd="sng" algn="ctr">
            <a:solidFill>
              <a:srgbClr val="DAEA0D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798D9C1-F2B4-A329-A17D-F71A6A9985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5000" y="1524000"/>
            <a:ext cx="5842000" cy="381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43048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5B1983-D7EC-D8BB-536A-5EB1D2997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i-IN" sz="2400" b="1">
                <a:solidFill>
                  <a:srgbClr val="44331A"/>
                </a:solidFill>
                <a:latin typeface="Aptos Display" panose="020B0004020202020204" pitchFamily="34" charset="0"/>
              </a:rPr>
              <a:t>8. नियंत्रित पोलीस-रेडी अॅक्सेस</a:t>
            </a:r>
            <a:endParaRPr lang="en-IN" sz="2400" b="1">
              <a:solidFill>
                <a:srgbClr val="44331A"/>
              </a:solidFill>
              <a:latin typeface="Aptos Display" panose="020B0004020202020204" pitchFamily="34" charset="0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611335-C6D3-6F8A-EB53-209581ECEE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6400" y="1397000"/>
            <a:ext cx="4826000" cy="4572000"/>
          </a:xfrm>
        </p:spPr>
        <p:txBody>
          <a:bodyPr>
            <a:normAutofit/>
          </a:bodyPr>
          <a:lstStyle/>
          <a:p>
            <a:r>
              <a:rPr lang="hi-IN" sz="1900">
                <a:solidFill>
                  <a:srgbClr val="44331A"/>
                </a:solidFill>
                <a:latin typeface="Aptos" panose="020B0004020202020204" pitchFamily="34" charset="0"/>
              </a:rPr>
              <a:t>• पोलीस वापरकर्त्यांना संरचित इन-अॅप अॅक्सेस मिळतो</a:t>
            </a:r>
          </a:p>
          <a:p>
            <a:r>
              <a:rPr lang="hi-IN" sz="1900">
                <a:solidFill>
                  <a:srgbClr val="44331A"/>
                </a:solidFill>
                <a:latin typeface="Aptos" panose="020B0004020202020204" pitchFamily="34" charset="0"/>
              </a:rPr>
              <a:t>• गेस्ट डेटा पाहणी जलद होते</a:t>
            </a:r>
          </a:p>
          <a:p>
            <a:r>
              <a:rPr lang="hi-IN" sz="1900">
                <a:solidFill>
                  <a:srgbClr val="44331A"/>
                </a:solidFill>
                <a:latin typeface="Aptos" panose="020B0004020202020204" pitchFamily="34" charset="0"/>
              </a:rPr>
              <a:t>• हॉटेलच्या फाइल्सना खुला ब्राउझिंग अॅक्सेस दिला जात नाही</a:t>
            </a:r>
            <a:endParaRPr lang="en-IN" sz="1900">
              <a:solidFill>
                <a:srgbClr val="44331A"/>
              </a:solidFill>
              <a:latin typeface="Aptos" panose="020B00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FA7985E-038B-B03C-58FD-B64D45A9EF8D}"/>
              </a:ext>
            </a:extLst>
          </p:cNvPr>
          <p:cNvSpPr/>
          <p:nvPr/>
        </p:nvSpPr>
        <p:spPr>
          <a:xfrm>
            <a:off x="5638800" y="1447800"/>
            <a:ext cx="5994400" cy="3962400"/>
          </a:xfrm>
          <a:prstGeom prst="rect">
            <a:avLst/>
          </a:prstGeom>
          <a:noFill/>
          <a:ln w="19050" cap="flat" cmpd="sng" algn="ctr">
            <a:solidFill>
              <a:srgbClr val="DAEA0D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8D733D6-015B-E86D-AF2E-854C9F88D3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5000" y="1524000"/>
            <a:ext cx="5842000" cy="381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32079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AB79BF3-97A0-9153-B9F4-D815CD18589E}"/>
              </a:ext>
            </a:extLst>
          </p:cNvPr>
          <p:cNvSpPr txBox="1"/>
          <p:nvPr/>
        </p:nvSpPr>
        <p:spPr>
          <a:xfrm>
            <a:off x="508000" y="406400"/>
            <a:ext cx="10922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2800" b="1">
                <a:solidFill>
                  <a:srgbClr val="44331A"/>
                </a:solidFill>
                <a:latin typeface="Aptos Display" panose="020B0004020202020204" pitchFamily="34" charset="0"/>
              </a:rPr>
              <a:t>किंमत आणि फ्री ट्रायल</a:t>
            </a:r>
            <a:endParaRPr lang="en-IN" sz="2800" b="1">
              <a:solidFill>
                <a:srgbClr val="44331A"/>
              </a:solidFill>
              <a:latin typeface="Aptos Display" panose="020B00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1236A20-8CEC-BB18-50DD-D02B2248BDE3}"/>
              </a:ext>
            </a:extLst>
          </p:cNvPr>
          <p:cNvSpPr/>
          <p:nvPr/>
        </p:nvSpPr>
        <p:spPr>
          <a:xfrm>
            <a:off x="635000" y="1524000"/>
            <a:ext cx="3175000" cy="254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DAEA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3D85A9B-FE0B-D78D-6F73-8EA88125723B}"/>
              </a:ext>
            </a:extLst>
          </p:cNvPr>
          <p:cNvSpPr txBox="1"/>
          <p:nvPr/>
        </p:nvSpPr>
        <p:spPr>
          <a:xfrm>
            <a:off x="838200" y="1752600"/>
            <a:ext cx="27686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2200" b="1">
                <a:solidFill>
                  <a:srgbClr val="44331A"/>
                </a:solidFill>
                <a:latin typeface="Aptos Display" panose="020B0004020202020204" pitchFamily="34" charset="0"/>
              </a:rPr>
              <a:t>मासिक योजना</a:t>
            </a:r>
            <a:endParaRPr lang="en-IN" sz="2200" b="1">
              <a:solidFill>
                <a:srgbClr val="44331A"/>
              </a:solidFill>
              <a:latin typeface="Aptos Display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0498041-139A-A385-688D-9D242862FA07}"/>
              </a:ext>
            </a:extLst>
          </p:cNvPr>
          <p:cNvSpPr txBox="1"/>
          <p:nvPr/>
        </p:nvSpPr>
        <p:spPr>
          <a:xfrm>
            <a:off x="838200" y="2438400"/>
            <a:ext cx="27686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2400" b="1">
                <a:solidFill>
                  <a:srgbClr val="DAEA0D"/>
                </a:solidFill>
                <a:latin typeface="Aptos Display" panose="020B0004020202020204" pitchFamily="34" charset="0"/>
              </a:rPr>
              <a:t>रु. 10</a:t>
            </a:r>
            <a:endParaRPr lang="en-IN" sz="2400" b="1">
              <a:solidFill>
                <a:srgbClr val="DAEA0D"/>
              </a:solidFill>
              <a:latin typeface="Aptos Display" panose="020B00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DF4DAFB-2FB4-1B60-D64B-6CCEDD6348A7}"/>
              </a:ext>
            </a:extLst>
          </p:cNvPr>
          <p:cNvSpPr txBox="1"/>
          <p:nvPr/>
        </p:nvSpPr>
        <p:spPr>
          <a:xfrm>
            <a:off x="838200" y="3302000"/>
            <a:ext cx="2768600" cy="35394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700">
                <a:solidFill>
                  <a:srgbClr val="44331A"/>
                </a:solidFill>
                <a:latin typeface="Aptos" panose="020B0004020202020204" pitchFamily="34" charset="0"/>
              </a:rPr>
              <a:t>प्रति रूम प्रति महिना</a:t>
            </a:r>
            <a:endParaRPr lang="en-IN" sz="1700">
              <a:solidFill>
                <a:srgbClr val="44331A"/>
              </a:solidFill>
              <a:latin typeface="Aptos" panose="020B0004020202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26768A6-B89A-6B7C-6D54-696FA4673E63}"/>
              </a:ext>
            </a:extLst>
          </p:cNvPr>
          <p:cNvSpPr/>
          <p:nvPr/>
        </p:nvSpPr>
        <p:spPr>
          <a:xfrm>
            <a:off x="4508500" y="1524000"/>
            <a:ext cx="3175000" cy="254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DAEA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1123D8-56B4-3EBA-966A-EE3A3BDF0E69}"/>
              </a:ext>
            </a:extLst>
          </p:cNvPr>
          <p:cNvSpPr txBox="1"/>
          <p:nvPr/>
        </p:nvSpPr>
        <p:spPr>
          <a:xfrm>
            <a:off x="4711700" y="1752600"/>
            <a:ext cx="27686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2200" b="1">
                <a:solidFill>
                  <a:srgbClr val="44331A"/>
                </a:solidFill>
                <a:latin typeface="Aptos Display" panose="020B0004020202020204" pitchFamily="34" charset="0"/>
              </a:rPr>
              <a:t>वार्षिक योजना</a:t>
            </a:r>
            <a:endParaRPr lang="en-IN" sz="2200" b="1">
              <a:solidFill>
                <a:srgbClr val="44331A"/>
              </a:solidFill>
              <a:latin typeface="Aptos Display" panose="020B00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187E654-9867-B12E-A38E-BE2B214A6C0B}"/>
              </a:ext>
            </a:extLst>
          </p:cNvPr>
          <p:cNvSpPr txBox="1"/>
          <p:nvPr/>
        </p:nvSpPr>
        <p:spPr>
          <a:xfrm>
            <a:off x="4711700" y="2438400"/>
            <a:ext cx="27686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2400" b="1">
                <a:solidFill>
                  <a:srgbClr val="DAEA0D"/>
                </a:solidFill>
                <a:latin typeface="Aptos Display" panose="020B0004020202020204" pitchFamily="34" charset="0"/>
              </a:rPr>
              <a:t>रु. 100</a:t>
            </a:r>
            <a:endParaRPr lang="en-IN" sz="2400" b="1">
              <a:solidFill>
                <a:srgbClr val="DAEA0D"/>
              </a:solidFill>
              <a:latin typeface="Aptos Display" panose="020B00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885CEBC-4E79-1F62-C2DF-44DA75FD0CF3}"/>
              </a:ext>
            </a:extLst>
          </p:cNvPr>
          <p:cNvSpPr txBox="1"/>
          <p:nvPr/>
        </p:nvSpPr>
        <p:spPr>
          <a:xfrm>
            <a:off x="4711700" y="3302000"/>
            <a:ext cx="2768600" cy="35394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700">
                <a:solidFill>
                  <a:srgbClr val="44331A"/>
                </a:solidFill>
                <a:latin typeface="Aptos" panose="020B0004020202020204" pitchFamily="34" charset="0"/>
              </a:rPr>
              <a:t>प्रति रूम प्रति वर्ष</a:t>
            </a:r>
            <a:endParaRPr lang="en-IN" sz="1700">
              <a:solidFill>
                <a:srgbClr val="44331A"/>
              </a:solidFill>
              <a:latin typeface="Aptos" panose="020B0004020202020204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13C709F-246B-1D40-AFBC-A2D01789279D}"/>
              </a:ext>
            </a:extLst>
          </p:cNvPr>
          <p:cNvSpPr/>
          <p:nvPr/>
        </p:nvSpPr>
        <p:spPr>
          <a:xfrm>
            <a:off x="8382000" y="1524000"/>
            <a:ext cx="3175000" cy="254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DAEA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D20BDF0-6FAB-7962-521B-7D38FA3FBAB9}"/>
              </a:ext>
            </a:extLst>
          </p:cNvPr>
          <p:cNvSpPr txBox="1"/>
          <p:nvPr/>
        </p:nvSpPr>
        <p:spPr>
          <a:xfrm>
            <a:off x="8585200" y="1752600"/>
            <a:ext cx="27686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2200" b="1">
                <a:solidFill>
                  <a:srgbClr val="44331A"/>
                </a:solidFill>
                <a:latin typeface="Aptos Display" panose="020B0004020202020204" pitchFamily="34" charset="0"/>
              </a:rPr>
              <a:t>फ्री ट्रायल</a:t>
            </a:r>
            <a:endParaRPr lang="en-IN" sz="2200" b="1">
              <a:solidFill>
                <a:srgbClr val="44331A"/>
              </a:solidFill>
              <a:latin typeface="Aptos Display" panose="020B00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7F9C770-1E27-441B-63FA-6C17B7192394}"/>
              </a:ext>
            </a:extLst>
          </p:cNvPr>
          <p:cNvSpPr txBox="1"/>
          <p:nvPr/>
        </p:nvSpPr>
        <p:spPr>
          <a:xfrm>
            <a:off x="8585200" y="2438400"/>
            <a:ext cx="2768600" cy="83099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2400" b="1">
                <a:solidFill>
                  <a:srgbClr val="DAEA0D"/>
                </a:solidFill>
                <a:latin typeface="Aptos Display" panose="020B0004020202020204" pitchFamily="34" charset="0"/>
              </a:rPr>
              <a:t>31 ऑक्टोबर 2026 पर्यंत</a:t>
            </a:r>
            <a:endParaRPr lang="en-IN" sz="2400" b="1">
              <a:solidFill>
                <a:srgbClr val="DAEA0D"/>
              </a:solidFill>
              <a:latin typeface="Aptos Display" panose="020B000402020202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1DC0C17-104D-3CA5-2026-44C1560935E7}"/>
              </a:ext>
            </a:extLst>
          </p:cNvPr>
          <p:cNvSpPr txBox="1"/>
          <p:nvPr/>
        </p:nvSpPr>
        <p:spPr>
          <a:xfrm>
            <a:off x="8585200" y="3302000"/>
            <a:ext cx="27686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700">
                <a:solidFill>
                  <a:srgbClr val="44331A"/>
                </a:solidFill>
                <a:latin typeface="Aptos" panose="020B0004020202020204" pitchFamily="34" charset="0"/>
              </a:rPr>
              <a:t>1 नोव्हेंबर 2026 पासून शुल्क लागू</a:t>
            </a:r>
            <a:endParaRPr lang="en-IN" sz="1700">
              <a:solidFill>
                <a:srgbClr val="44331A"/>
              </a:solidFill>
              <a:latin typeface="Aptos" panose="020B0004020202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C67B67E-D278-9CFD-BF0F-F7A83A047739}"/>
              </a:ext>
            </a:extLst>
          </p:cNvPr>
          <p:cNvSpPr txBox="1"/>
          <p:nvPr/>
        </p:nvSpPr>
        <p:spPr>
          <a:xfrm>
            <a:off x="762000" y="4699000"/>
            <a:ext cx="10668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2000">
                <a:solidFill>
                  <a:srgbClr val="44331A"/>
                </a:solidFill>
                <a:latin typeface="Aptos" panose="020B0004020202020204" pitchFamily="34" charset="0"/>
              </a:rPr>
              <a:t>हॉटेलच्या मालकीची नोंद. नियंत्रित पोलीस-अॅक्सेस. मोबाइलवर सोपी दैनंदिन हॉटेल कामकाज व्यवस्था.</a:t>
            </a:r>
            <a:endParaRPr lang="en-IN" sz="2000">
              <a:solidFill>
                <a:srgbClr val="44331A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89465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EF290D-0025-4620-4AE4-9C17B09484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i-IN" sz="2400" b="1">
                <a:solidFill>
                  <a:srgbClr val="44331A"/>
                </a:solidFill>
                <a:latin typeface="Aptos Display" panose="020B0004020202020204" pitchFamily="34" charset="0"/>
              </a:rPr>
              <a:t>9. शेवटचा संदेश</a:t>
            </a:r>
            <a:endParaRPr lang="en-IN" sz="2400" b="1">
              <a:solidFill>
                <a:srgbClr val="44331A"/>
              </a:solidFill>
              <a:latin typeface="Aptos Display" panose="020B0004020202020204" pitchFamily="34" charset="0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7DF26B-5562-CB10-534C-D1AB57E221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6400" y="1397000"/>
            <a:ext cx="4826000" cy="4572000"/>
          </a:xfrm>
        </p:spPr>
        <p:txBody>
          <a:bodyPr>
            <a:normAutofit/>
          </a:bodyPr>
          <a:lstStyle/>
          <a:p>
            <a:r>
              <a:rPr lang="hi-IN" sz="1900">
                <a:solidFill>
                  <a:srgbClr val="44331A"/>
                </a:solidFill>
                <a:latin typeface="Aptos" panose="020B0004020202020204" pitchFamily="34" charset="0"/>
              </a:rPr>
              <a:t>• 31 ऑक्टोबर 2026 पर्यंत फ्री ट्रायल</a:t>
            </a:r>
          </a:p>
          <a:p>
            <a:r>
              <a:rPr lang="hi-IN" sz="1900">
                <a:solidFill>
                  <a:srgbClr val="44331A"/>
                </a:solidFill>
                <a:latin typeface="Aptos" panose="020B0004020202020204" pitchFamily="34" charset="0"/>
              </a:rPr>
              <a:t>• मासिक: रु. 10 प्रति रूम</a:t>
            </a:r>
          </a:p>
          <a:p>
            <a:r>
              <a:rPr lang="hi-IN" sz="1900">
                <a:solidFill>
                  <a:srgbClr val="44331A"/>
                </a:solidFill>
                <a:latin typeface="Aptos" panose="020B0004020202020204" pitchFamily="34" charset="0"/>
              </a:rPr>
              <a:t>• वार्षिक: रु. 100 प्रति रूम</a:t>
            </a:r>
          </a:p>
          <a:p>
            <a:r>
              <a:rPr lang="hi-IN" sz="1900">
                <a:solidFill>
                  <a:srgbClr val="44331A"/>
                </a:solidFill>
                <a:latin typeface="Aptos" panose="020B0004020202020204" pitchFamily="34" charset="0"/>
              </a:rPr>
              <a:t>• लाइव्ह डेमो आणि सेटअपसाठी </a:t>
            </a:r>
            <a:r>
              <a:rPr lang="en-IN" sz="1900">
                <a:solidFill>
                  <a:srgbClr val="44331A"/>
                </a:solidFill>
                <a:latin typeface="Aptos" panose="020B0004020202020204" pitchFamily="34" charset="0"/>
              </a:rPr>
              <a:t>Hotels In Alibaug </a:t>
            </a:r>
            <a:r>
              <a:rPr lang="hi-IN" sz="1900">
                <a:solidFill>
                  <a:srgbClr val="44331A"/>
                </a:solidFill>
                <a:latin typeface="Aptos" panose="020B0004020202020204" pitchFamily="34" charset="0"/>
              </a:rPr>
              <a:t>शी संपर्क करा</a:t>
            </a:r>
            <a:endParaRPr lang="en-IN" sz="1900">
              <a:solidFill>
                <a:srgbClr val="44331A"/>
              </a:solidFill>
              <a:latin typeface="Aptos" panose="020B00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4A6412A-43D7-ADBA-B016-2BFEB137DEE3}"/>
              </a:ext>
            </a:extLst>
          </p:cNvPr>
          <p:cNvSpPr/>
          <p:nvPr/>
        </p:nvSpPr>
        <p:spPr>
          <a:xfrm>
            <a:off x="5638800" y="1447800"/>
            <a:ext cx="5994400" cy="3962400"/>
          </a:xfrm>
          <a:prstGeom prst="rect">
            <a:avLst/>
          </a:prstGeom>
          <a:noFill/>
          <a:ln w="19050" cap="flat" cmpd="sng" algn="ctr">
            <a:solidFill>
              <a:srgbClr val="DAEA0D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EE7846D-C5AE-3DF7-6FB9-BF3AC7B1A5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5000" y="1524000"/>
            <a:ext cx="5842000" cy="3810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C163DCC-072A-6812-7F71-227D3FE0A51D}"/>
              </a:ext>
            </a:extLst>
          </p:cNvPr>
          <p:cNvSpPr txBox="1"/>
          <p:nvPr/>
        </p:nvSpPr>
        <p:spPr>
          <a:xfrm>
            <a:off x="762000" y="4572000"/>
            <a:ext cx="10414000" cy="1524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>
                <a:solidFill>
                  <a:srgbClr val="FFFFFF"/>
                </a:solidFill>
                <a:latin typeface="Aptos" panose="020B0004020202020204" pitchFamily="34" charset="0"/>
              </a:rPr>
              <a:t>Contact</a:t>
            </a:r>
          </a:p>
          <a:p>
            <a:r>
              <a:rPr lang="en-IN">
                <a:solidFill>
                  <a:srgbClr val="FFFFFF"/>
                </a:solidFill>
                <a:latin typeface="Aptos" panose="020B0004020202020204" pitchFamily="34" charset="0"/>
              </a:rPr>
              <a:t>WhatsApp</a:t>
            </a:r>
          </a:p>
          <a:p>
            <a:r>
              <a:rPr lang="en-IN">
                <a:solidFill>
                  <a:srgbClr val="FFFFFF"/>
                </a:solidFill>
                <a:latin typeface="Aptos" panose="020B0004020202020204" pitchFamily="34" charset="0"/>
              </a:rPr>
              <a:t>+91 72089 93899</a:t>
            </a:r>
          </a:p>
          <a:p>
            <a:r>
              <a:rPr lang="en-IN">
                <a:solidFill>
                  <a:srgbClr val="FFFFFF"/>
                </a:solidFill>
                <a:latin typeface="Aptos" panose="020B0004020202020204" pitchFamily="34" charset="0"/>
              </a:rPr>
              <a:t>Email</a:t>
            </a:r>
          </a:p>
          <a:p>
            <a:r>
              <a:rPr lang="en-IN">
                <a:solidFill>
                  <a:srgbClr val="FFFFFF"/>
                </a:solidFill>
                <a:latin typeface="Aptos" panose="020B0004020202020204" pitchFamily="34" charset="0"/>
              </a:rPr>
              <a:t>checkin.hotelsinalibaug@gmail.com</a:t>
            </a:r>
          </a:p>
        </p:txBody>
      </p:sp>
    </p:spTree>
    <p:extLst>
      <p:ext uri="{BB962C8B-B14F-4D97-AF65-F5344CB8AC3E}">
        <p14:creationId xmlns:p14="http://schemas.microsoft.com/office/powerpoint/2010/main" val="8514437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349</Words>
  <Application>Microsoft Office PowerPoint</Application>
  <PresentationFormat>Widescreen</PresentationFormat>
  <Paragraphs>55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Aptos</vt:lpstr>
      <vt:lpstr>Aptos Display</vt:lpstr>
      <vt:lpstr>Arial</vt:lpstr>
      <vt:lpstr>Calibri</vt:lpstr>
      <vt:lpstr>Calibri Light</vt:lpstr>
      <vt:lpstr>Office Theme</vt:lpstr>
      <vt:lpstr>PowerPoint Presentation</vt:lpstr>
      <vt:lpstr>1. एकच प्रायव्हेट हॉटेल डॅशबोर्ड</vt:lpstr>
      <vt:lpstr>2. QR द्वारे गेस्ट सेल्फ चेक-इन</vt:lpstr>
      <vt:lpstr>3. फॅमिली रूम एंट्री</vt:lpstr>
      <vt:lpstr>4. हॉटेलच्या मालकीचे Google Drive स्टोरेज</vt:lpstr>
      <vt:lpstr>5. डिजिटल स्टाफ रजिस्टर</vt:lpstr>
      <vt:lpstr>6. फ्युचर रिझर्वेशन कॅलेंडर</vt:lpstr>
      <vt:lpstr>7. रोजच्या कामासाठी रिपोर्ट्स</vt:lpstr>
      <vt:lpstr>8. नियंत्रित पोलीस-रेडी अॅक्सेस</vt:lpstr>
      <vt:lpstr>PowerPoint Presentation</vt:lpstr>
      <vt:lpstr>9. शेवटचा संदेश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Girish Patil</dc:creator>
  <cp:lastModifiedBy>Girish Patil</cp:lastModifiedBy>
  <cp:revision>2</cp:revision>
  <dcterms:created xsi:type="dcterms:W3CDTF">2026-07-20T07:52:10Z</dcterms:created>
  <dcterms:modified xsi:type="dcterms:W3CDTF">2026-07-20T08:08:39Z</dcterms:modified>
</cp:coreProperties>
</file>