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8B38-7A76-3AA8-CBD5-20D6D9879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2AFBA-F419-B682-BFF1-8092D6EDE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45872-0DF3-8250-3183-80BE3675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47DCC-4E89-D222-8639-355A7C3B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9DEC7-8F6A-31FB-0C77-E9458204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17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CC6A-A036-EBAA-EE3B-E83566E6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1031-98CE-7F44-7565-A45C08E2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32386-8443-EDAA-720D-5C402263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503CF-B28B-2CB5-96A0-D29F80F5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03A4A-FDBF-E2F5-D78F-DB5EA1D0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71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B5D4-B5DA-9D09-A753-D3B989D5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6D0FA-2D5A-C426-FF2C-0B7308D89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F3041-C50D-8F3D-F70B-C4C15CFE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D2654-071A-EEB6-0943-2394D787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173F-0B9D-E68B-3EE8-B62E22C0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74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D8B8-8D84-3A69-2970-4D2CF4CC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D9612-6876-B623-26C7-6D75E5F03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F7F83-4490-2AB4-6FF9-822AB0ADF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12F42-6E01-DAA6-53D1-D69F6C02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7B04B-FA66-E50B-741F-5AB98A8C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E87D5-14CD-6229-A0B7-659E5A4F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51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B386-C4D8-8E91-D7E0-47FB6A71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CE4BF-BCA5-5A4C-57B8-66C6BF8E9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17C57-F05B-E399-3B50-123434373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622AF-40A0-A246-A8B3-A22A3669E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96A06-B2CC-D02B-7B95-AB91E373E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FFB05-637E-C9B5-F483-5E86BF0B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689888-0547-09C9-D409-1398FDB9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EAD939-F1A7-4EB7-F04D-410706BB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0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E9FB-FE95-9C02-9670-48621C9E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11EA2-5FF2-40CE-A783-5E2E89B8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64E41-B5AA-E736-964F-89C35D50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07CB2-2573-17F6-EAE2-6A59866C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60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511B3-D81A-F7E0-246F-6F80B5A3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A4ECC-9549-8895-43B3-3FF8D054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41F9A-4412-5FDB-F91D-1A9ECA75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19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B880-9B2A-13E5-3482-2311D584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4A0BD-271F-BF48-4F17-FEC6C1DC2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2EE72-3C5D-57BB-4EA1-4C8A5CE59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F48C0-D56E-C9DB-C975-9BFBB754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FC4EE-70C0-2329-6243-C5E5F563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513D2-85CD-5610-3598-B6581BBA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72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7470-BA1B-A0D7-4461-CEB39DF0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D03E-D090-A860-99E1-4EA81F088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16065-8BE3-06EB-C7C9-BF996F96E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7FD15-1B34-8238-2930-687EB03B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D8FB5-ACE3-78E1-B14A-DBC53093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CC82E-D3B4-7AB2-E32C-4C498248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62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8B401-922A-B699-7B43-BC98D0DA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20FBD-3071-C76E-3B3F-41C7380E9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5E1E-320B-6D48-1BF3-B37CC3B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3CB2-A2C5-D6A7-2E9A-236CC4B4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FEDAF-CD72-C4CB-E913-C68E88C8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32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CB97A-7F7C-5E03-1552-DB4F11399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D9BE2-72C1-F5F3-DA7B-EC6BDC820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17D2C-9AE1-7C80-16E9-39A27F88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2A09F-A9A5-A209-0A5F-CCC6BDCB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95CEA-0065-1C65-6692-5E2AFEF9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21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C07A7-B043-0B24-3996-6DB2CCEA3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E4AC5-8C2F-9311-D869-112414B6E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E065B-291E-239B-49B8-29D809CAE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56598-A075-438A-A188-FE8C95F69B3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F53EE-DAD1-4C8D-2E49-9CD6E7AF8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27FAD-EB95-BA87-7826-70A56E3EC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C0FAB-ED89-4744-B4D6-84415A63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1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48A7-B027-4628-86D0-062DB7615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49A79-DE94-8761-8CE5-E080E7EF7E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DA1E34-BEDD-C928-3AE8-2705348CA1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D52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8CA7D-0FEE-9F74-164B-DEAA02DEC6E0}"/>
              </a:ext>
            </a:extLst>
          </p:cNvPr>
          <p:cNvSpPr txBox="1"/>
          <p:nvPr/>
        </p:nvSpPr>
        <p:spPr>
          <a:xfrm>
            <a:off x="889000" y="1651000"/>
            <a:ext cx="6350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400" b="1">
                <a:solidFill>
                  <a:srgbClr val="FAFAFA"/>
                </a:solidFill>
                <a:latin typeface="Poppins" panose="00000500000000000000" pitchFamily="2" charset="0"/>
              </a:rPr>
              <a:t>CHECKIN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7FC0F-5EC1-388E-32EE-B1B734C46F4C}"/>
              </a:ext>
            </a:extLst>
          </p:cNvPr>
          <p:cNvSpPr txBox="1"/>
          <p:nvPr/>
        </p:nvSpPr>
        <p:spPr>
          <a:xfrm>
            <a:off x="889000" y="2603500"/>
            <a:ext cx="6096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FAFAFA"/>
                </a:solidFill>
                <a:latin typeface="Poppins" panose="00000500000000000000" pitchFamily="2" charset="0"/>
              </a:rPr>
              <a:t>Hotel Operating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A4C41-3238-CE4C-86FA-DBF245B37134}"/>
              </a:ext>
            </a:extLst>
          </p:cNvPr>
          <p:cNvSpPr txBox="1"/>
          <p:nvPr/>
        </p:nvSpPr>
        <p:spPr>
          <a:xfrm>
            <a:off x="889000" y="3238500"/>
            <a:ext cx="711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000">
                <a:solidFill>
                  <a:srgbClr val="FAFAFA"/>
                </a:solidFill>
                <a:latin typeface="Poppins" panose="00000500000000000000" pitchFamily="2" charset="0"/>
              </a:rPr>
              <a:t>तुमच्या हॉटेलचा विश्वासू डिजिटल सहकारी</a:t>
            </a:r>
            <a:endParaRPr lang="en-IN" sz="2000">
              <a:solidFill>
                <a:srgbClr val="FAFAFA"/>
              </a:solidFill>
              <a:latin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9740A-B24D-5A64-CF12-59405855BB14}"/>
              </a:ext>
            </a:extLst>
          </p:cNvPr>
          <p:cNvSpPr txBox="1"/>
          <p:nvPr/>
        </p:nvSpPr>
        <p:spPr>
          <a:xfrm>
            <a:off x="889000" y="5524500"/>
            <a:ext cx="330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C9AA27"/>
                </a:solidFill>
                <a:latin typeface="Poppins" panose="00000500000000000000" pitchFamily="2" charset="0"/>
              </a:rPr>
              <a:t>PROJECT </a:t>
            </a:r>
            <a:r>
              <a:rPr lang="hi-IN">
                <a:solidFill>
                  <a:srgbClr val="C9AA27"/>
                </a:solidFill>
                <a:latin typeface="Poppins" panose="00000500000000000000" pitchFamily="2" charset="0"/>
              </a:rPr>
              <a:t>आरंभ</a:t>
            </a:r>
            <a:endParaRPr lang="en-IN">
              <a:solidFill>
                <a:srgbClr val="C9AA27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52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B646-401C-8A49-FEB9-C357F253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91E83-3AC1-D3B1-DAA6-F16DC4032984}"/>
              </a:ext>
            </a:extLst>
          </p:cNvPr>
          <p:cNvSpPr txBox="1"/>
          <p:nvPr/>
        </p:nvSpPr>
        <p:spPr>
          <a:xfrm>
            <a:off x="1143000" y="1524000"/>
            <a:ext cx="990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FAFAFA"/>
                </a:solidFill>
                <a:latin typeface="Poppins" panose="00000500000000000000" pitchFamily="2" charset="0"/>
              </a:rPr>
              <a:t>आज मी इथे</a:t>
            </a:r>
            <a:endParaRPr lang="en-IN" sz="2800" b="1">
              <a:solidFill>
                <a:srgbClr val="FAFAFA"/>
              </a:solidFill>
              <a:latin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9AED39-9C1B-5C75-3726-99ED7BCC3767}"/>
              </a:ext>
            </a:extLst>
          </p:cNvPr>
          <p:cNvSpPr txBox="1"/>
          <p:nvPr/>
        </p:nvSpPr>
        <p:spPr>
          <a:xfrm>
            <a:off x="1143000" y="2667000"/>
            <a:ext cx="990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FAFAFA"/>
                </a:solidFill>
                <a:latin typeface="Poppins" panose="00000500000000000000" pitchFamily="2" charset="0"/>
              </a:rPr>
              <a:t>सॉफ्टवेअर विकायला आलो नाही.</a:t>
            </a:r>
            <a:endParaRPr lang="en-IN" sz="2800" b="1">
              <a:solidFill>
                <a:srgbClr val="FAFAFA"/>
              </a:solidFill>
              <a:latin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07111-6070-6B4B-804C-B994A13E82E3}"/>
              </a:ext>
            </a:extLst>
          </p:cNvPr>
          <p:cNvSpPr txBox="1"/>
          <p:nvPr/>
        </p:nvSpPr>
        <p:spPr>
          <a:xfrm>
            <a:off x="1143000" y="3810000"/>
            <a:ext cx="990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IN" sz="2800" b="1">
              <a:solidFill>
                <a:srgbClr val="FAFAFA"/>
              </a:solidFill>
              <a:latin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9EBA3-F1C9-BD05-38F1-3FABFA25A162}"/>
              </a:ext>
            </a:extLst>
          </p:cNvPr>
          <p:cNvSpPr txBox="1"/>
          <p:nvPr/>
        </p:nvSpPr>
        <p:spPr>
          <a:xfrm>
            <a:off x="1143000" y="4953000"/>
            <a:ext cx="990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FAFAFA"/>
                </a:solidFill>
                <a:latin typeface="Poppins" panose="00000500000000000000" pitchFamily="2" charset="0"/>
              </a:rPr>
              <a:t>मी तुमच्यासारखाच</a:t>
            </a:r>
            <a:endParaRPr lang="en-IN" sz="2800" b="1">
              <a:solidFill>
                <a:srgbClr val="FAFAFA"/>
              </a:solidFill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54500-FC0E-CA8B-D9B5-6906B05EA21D}"/>
              </a:ext>
            </a:extLst>
          </p:cNvPr>
          <p:cNvSpPr txBox="1"/>
          <p:nvPr/>
        </p:nvSpPr>
        <p:spPr>
          <a:xfrm>
            <a:off x="1143000" y="6096000"/>
            <a:ext cx="990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FAFAFA"/>
                </a:solidFill>
                <a:latin typeface="Poppins" panose="00000500000000000000" pitchFamily="2" charset="0"/>
              </a:rPr>
              <a:t>एक हॉटेल मालक आहे.</a:t>
            </a:r>
            <a:endParaRPr lang="en-IN" sz="2800" b="1">
              <a:solidFill>
                <a:srgbClr val="FAFAFA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21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8E2C-08EF-D9D7-6024-6857627F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CAF7D-241B-4163-CE61-04D9B4AB4691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0F2D52"/>
                </a:solidFill>
                <a:latin typeface="Poppins" panose="00000500000000000000" pitchFamily="2" charset="0"/>
              </a:rPr>
              <a:t>प्रत्येक सकाळ अशीच सुरू होते...</a:t>
            </a:r>
            <a:endParaRPr lang="en-IN" sz="2800" b="1">
              <a:solidFill>
                <a:srgbClr val="0F2D52"/>
              </a:solidFill>
              <a:latin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54292-DDC9-13F3-58CF-C020FD2A1907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700">
                <a:solidFill>
                  <a:srgbClr val="333333"/>
                </a:solidFill>
                <a:latin typeface="Poppins" panose="00000500000000000000" pitchFamily="2" charset="0"/>
              </a:rPr>
              <a:t>फोन, </a:t>
            </a:r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WhatsApp, </a:t>
            </a:r>
            <a:r>
              <a:rPr lang="hi-IN" sz="1700">
                <a:solidFill>
                  <a:srgbClr val="333333"/>
                </a:solidFill>
                <a:latin typeface="Poppins" panose="00000500000000000000" pitchFamily="2" charset="0"/>
              </a:rPr>
              <a:t>बुकिंग, गेस्ट, स्टाफ, पेमेंट्स आणि रिसेप्शनचा गोंधळ</a:t>
            </a:r>
            <a:endParaRPr lang="en-IN" sz="1700">
              <a:solidFill>
                <a:srgbClr val="333333"/>
              </a:solidFill>
              <a:latin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9AE30B-8EB1-DEB1-BEF2-A56DB066C16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24000"/>
            <a:ext cx="4953000" cy="317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AEF79D-F227-CBF5-F478-9E9299363808}"/>
              </a:ext>
            </a:extLst>
          </p:cNvPr>
          <p:cNvSpPr/>
          <p:nvPr/>
        </p:nvSpPr>
        <p:spPr>
          <a:xfrm>
            <a:off x="685800" y="2032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D0256-BF88-5BE1-AA25-CD44353C54AA}"/>
              </a:ext>
            </a:extLst>
          </p:cNvPr>
          <p:cNvSpPr txBox="1"/>
          <p:nvPr/>
        </p:nvSpPr>
        <p:spPr>
          <a:xfrm>
            <a:off x="863600" y="2209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Phone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5DA1D-3565-B9E5-2F9C-354C9E83442C}"/>
              </a:ext>
            </a:extLst>
          </p:cNvPr>
          <p:cNvSpPr txBox="1"/>
          <p:nvPr/>
        </p:nvSpPr>
        <p:spPr>
          <a:xfrm>
            <a:off x="863600" y="2616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Calls and follow-ups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7E47D-9E26-395A-FF16-AC6A204E5359}"/>
              </a:ext>
            </a:extLst>
          </p:cNvPr>
          <p:cNvSpPr/>
          <p:nvPr/>
        </p:nvSpPr>
        <p:spPr>
          <a:xfrm>
            <a:off x="3225800" y="2032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D73DA-35DD-D1CC-E80C-4B71D0BCDBC5}"/>
              </a:ext>
            </a:extLst>
          </p:cNvPr>
          <p:cNvSpPr txBox="1"/>
          <p:nvPr/>
        </p:nvSpPr>
        <p:spPr>
          <a:xfrm>
            <a:off x="3403600" y="2209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WhatsApp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539C1-B79A-067C-B9F0-69B1FAF4F1C1}"/>
              </a:ext>
            </a:extLst>
          </p:cNvPr>
          <p:cNvSpPr txBox="1"/>
          <p:nvPr/>
        </p:nvSpPr>
        <p:spPr>
          <a:xfrm>
            <a:off x="3403600" y="2616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Booking messages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B33DF2-BA11-EC8A-13C8-3ACD32E89304}"/>
              </a:ext>
            </a:extLst>
          </p:cNvPr>
          <p:cNvSpPr/>
          <p:nvPr/>
        </p:nvSpPr>
        <p:spPr>
          <a:xfrm>
            <a:off x="685800" y="36322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2DB23-2E5C-63EA-4492-E90F3FB27F9A}"/>
              </a:ext>
            </a:extLst>
          </p:cNvPr>
          <p:cNvSpPr txBox="1"/>
          <p:nvPr/>
        </p:nvSpPr>
        <p:spPr>
          <a:xfrm>
            <a:off x="863600" y="3810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Register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BE2393-CFB8-6D8B-9A68-98186E221C20}"/>
              </a:ext>
            </a:extLst>
          </p:cNvPr>
          <p:cNvSpPr txBox="1"/>
          <p:nvPr/>
        </p:nvSpPr>
        <p:spPr>
          <a:xfrm>
            <a:off x="863600" y="42164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Manual writing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A651B-6F11-3C53-79B8-8975D0C40FC7}"/>
              </a:ext>
            </a:extLst>
          </p:cNvPr>
          <p:cNvSpPr/>
          <p:nvPr/>
        </p:nvSpPr>
        <p:spPr>
          <a:xfrm>
            <a:off x="3225800" y="36322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B44CBD-54B0-8CDB-940E-EBE6E1F79A92}"/>
              </a:ext>
            </a:extLst>
          </p:cNvPr>
          <p:cNvSpPr txBox="1"/>
          <p:nvPr/>
        </p:nvSpPr>
        <p:spPr>
          <a:xfrm>
            <a:off x="3403600" y="3810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Guests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5B814-B402-EDF1-569B-5B8AF874E2A3}"/>
              </a:ext>
            </a:extLst>
          </p:cNvPr>
          <p:cNvSpPr txBox="1"/>
          <p:nvPr/>
        </p:nvSpPr>
        <p:spPr>
          <a:xfrm>
            <a:off x="3403600" y="42164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ID and room details</a:t>
            </a:r>
          </a:p>
        </p:txBody>
      </p:sp>
    </p:spTree>
    <p:extLst>
      <p:ext uri="{BB962C8B-B14F-4D97-AF65-F5344CB8AC3E}">
        <p14:creationId xmlns:p14="http://schemas.microsoft.com/office/powerpoint/2010/main" val="28197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75C3-7F53-79B5-BC04-8C9479EF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D4945-EE0C-86F2-E5B0-267BE59F60A7}"/>
              </a:ext>
            </a:extLst>
          </p:cNvPr>
          <p:cNvSpPr txBox="1"/>
          <p:nvPr/>
        </p:nvSpPr>
        <p:spPr>
          <a:xfrm>
            <a:off x="1524000" y="1524000"/>
            <a:ext cx="9144000" cy="21852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3400" b="1">
                <a:solidFill>
                  <a:srgbClr val="0F2D52"/>
                </a:solidFill>
                <a:latin typeface="Poppins" panose="00000500000000000000" pitchFamily="2" charset="0"/>
              </a:rPr>
              <a:t>आपण</a:t>
            </a:r>
          </a:p>
          <a:p>
            <a:r>
              <a:rPr lang="hi-IN" sz="3400" b="1">
                <a:solidFill>
                  <a:srgbClr val="0F2D52"/>
                </a:solidFill>
                <a:latin typeface="Poppins" panose="00000500000000000000" pitchFamily="2" charset="0"/>
              </a:rPr>
              <a:t>हॉटेल चालवतो...</a:t>
            </a:r>
          </a:p>
          <a:p>
            <a:r>
              <a:rPr lang="hi-IN" sz="3400" b="1">
                <a:solidFill>
                  <a:srgbClr val="0F2D52"/>
                </a:solidFill>
                <a:latin typeface="Poppins" panose="00000500000000000000" pitchFamily="2" charset="0"/>
              </a:rPr>
              <a:t>की</a:t>
            </a:r>
          </a:p>
          <a:p>
            <a:r>
              <a:rPr lang="hi-IN" sz="3400" b="1">
                <a:solidFill>
                  <a:srgbClr val="0F2D52"/>
                </a:solidFill>
                <a:latin typeface="Poppins" panose="00000500000000000000" pitchFamily="2" charset="0"/>
              </a:rPr>
              <a:t>फक्त व्यवस्थापन सांभाळतो?</a:t>
            </a:r>
            <a:endParaRPr lang="en-IN" sz="3400" b="1">
              <a:solidFill>
                <a:srgbClr val="0F2D52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4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CC9D-8C57-BAC6-1D38-1C39482E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73996-DF91-E6E5-5BD4-77FC5A0416E2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0F2D52"/>
                </a:solidFill>
                <a:latin typeface="Poppins" panose="00000500000000000000" pitchFamily="2" charset="0"/>
              </a:rPr>
              <a:t>माझा प्रवास</a:t>
            </a:r>
            <a:endParaRPr lang="en-IN" sz="2800" b="1">
              <a:solidFill>
                <a:srgbClr val="0F2D52"/>
              </a:solidFill>
              <a:latin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253B9-9517-900B-8AFF-FF812A4B2178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700">
                <a:solidFill>
                  <a:srgbClr val="333333"/>
                </a:solidFill>
                <a:latin typeface="Poppins" panose="00000500000000000000" pitchFamily="2" charset="0"/>
              </a:rPr>
              <a:t>जहाजांवरून हॉटेलपर्यंत</a:t>
            </a:r>
            <a:endParaRPr lang="en-IN" sz="1700">
              <a:solidFill>
                <a:srgbClr val="333333"/>
              </a:solidFill>
              <a:latin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CC2B2E-8E6F-FE6E-2B18-5695D4003A8D}"/>
              </a:ext>
            </a:extLst>
          </p:cNvPr>
          <p:cNvSpPr txBox="1"/>
          <p:nvPr/>
        </p:nvSpPr>
        <p:spPr>
          <a:xfrm>
            <a:off x="1143000" y="2159000"/>
            <a:ext cx="9652000" cy="240065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C9AA27"/>
                </a:solidFill>
                <a:latin typeface="Poppins" panose="00000500000000000000" pitchFamily="2" charset="0"/>
              </a:rPr>
              <a:t>Ship</a:t>
            </a:r>
          </a:p>
          <a:p>
            <a:r>
              <a:rPr lang="en-IN" sz="3000" b="1">
                <a:solidFill>
                  <a:srgbClr val="C9AA27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3000" b="1">
                <a:solidFill>
                  <a:srgbClr val="C9AA27"/>
                </a:solidFill>
                <a:latin typeface="Poppins" panose="00000500000000000000" pitchFamily="2" charset="0"/>
              </a:rPr>
              <a:t>Hotel</a:t>
            </a:r>
          </a:p>
          <a:p>
            <a:r>
              <a:rPr lang="en-IN" sz="3000" b="1">
                <a:solidFill>
                  <a:srgbClr val="C9AA27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3000" b="1">
                <a:solidFill>
                  <a:srgbClr val="C9AA27"/>
                </a:solidFill>
                <a:latin typeface="Poppins" panose="00000500000000000000" pitchFamily="2" charset="0"/>
              </a:rPr>
              <a:t>Checkin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A25B1-6462-91FD-AAC9-2D0D6473C102}"/>
              </a:ext>
            </a:extLst>
          </p:cNvPr>
          <p:cNvSpPr txBox="1"/>
          <p:nvPr/>
        </p:nvSpPr>
        <p:spPr>
          <a:xfrm>
            <a:off x="5334000" y="2286000"/>
            <a:ext cx="5334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200">
                <a:solidFill>
                  <a:srgbClr val="333333"/>
                </a:solidFill>
                <a:latin typeface="Poppins" panose="00000500000000000000" pitchFamily="2" charset="0"/>
              </a:rPr>
              <a:t>व्यापारी जहाजांवर मुख्य अभियंता म्हणून शिकलो...`</a:t>
            </a:r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r`n</a:t>
            </a:r>
            <a:r>
              <a:rPr lang="hi-IN" sz="2200">
                <a:solidFill>
                  <a:srgbClr val="333333"/>
                </a:solidFill>
                <a:latin typeface="Poppins" panose="00000500000000000000" pitchFamily="2" charset="0"/>
              </a:rPr>
              <a:t>मोठा व्यवसाय चालवायचा असेल तर प्रणाली लागते.</a:t>
            </a:r>
            <a:endParaRPr lang="en-IN" sz="2200">
              <a:solidFill>
                <a:srgbClr val="333333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75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DCB1-36FA-E7A6-6FF9-1E2F802C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AAAD1-2C5C-DE2D-E66A-F5156A429C41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AFAFA"/>
                </a:solidFill>
                <a:latin typeface="Poppins" panose="00000500000000000000" pitchFamily="2" charset="0"/>
              </a:rPr>
              <a:t>CHECKIN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25EB0-01D7-50B3-A471-BEF221D65116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FAFAFA"/>
                </a:solidFill>
                <a:latin typeface="Poppins" panose="00000500000000000000" pitchFamily="2" charset="0"/>
              </a:rPr>
              <a:t>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891CE-0181-65B3-33AF-E0C855B92332}"/>
              </a:ext>
            </a:extLst>
          </p:cNvPr>
          <p:cNvSpPr txBox="1"/>
          <p:nvPr/>
        </p:nvSpPr>
        <p:spPr>
          <a:xfrm>
            <a:off x="1016000" y="2730500"/>
            <a:ext cx="635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600" b="1">
                <a:solidFill>
                  <a:srgbClr val="C9AA27"/>
                </a:solidFill>
                <a:latin typeface="Poppins" panose="00000500000000000000" pitchFamily="2" charset="0"/>
              </a:rPr>
              <a:t>आठवणींवर नाही...`</a:t>
            </a:r>
            <a:r>
              <a:rPr lang="en-IN" sz="2600" b="1">
                <a:solidFill>
                  <a:srgbClr val="C9AA27"/>
                </a:solidFill>
                <a:latin typeface="Poppins" panose="00000500000000000000" pitchFamily="2" charset="0"/>
              </a:rPr>
              <a:t>r`n</a:t>
            </a:r>
            <a:r>
              <a:rPr lang="hi-IN" sz="2600" b="1">
                <a:solidFill>
                  <a:srgbClr val="C9AA27"/>
                </a:solidFill>
                <a:latin typeface="Poppins" panose="00000500000000000000" pitchFamily="2" charset="0"/>
              </a:rPr>
              <a:t>प्रणालीवर विश्वास.</a:t>
            </a:r>
            <a:endParaRPr lang="en-IN" sz="2600" b="1">
              <a:solidFill>
                <a:srgbClr val="C9AA27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16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A20F-6786-DD58-643B-FE983E05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F2262-B31C-E75E-45E3-5CB89408E516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Hotel Admin Login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E8ED3-D554-D349-8A13-EF896EA0FDD0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Secure access for each hotel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B1AF4-BF03-E1B9-1846-338374A1608E}"/>
              </a:ext>
            </a:extLst>
          </p:cNvPr>
          <p:cNvSpPr/>
          <p:nvPr/>
        </p:nvSpPr>
        <p:spPr>
          <a:xfrm>
            <a:off x="889000" y="1778000"/>
            <a:ext cx="3556000" cy="4191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D2A248-4AEC-0C8C-DC3D-6F8745440978}"/>
              </a:ext>
            </a:extLst>
          </p:cNvPr>
          <p:cNvSpPr/>
          <p:nvPr/>
        </p:nvSpPr>
        <p:spPr>
          <a:xfrm>
            <a:off x="1016000" y="2082800"/>
            <a:ext cx="3302000" cy="3708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63831D-9D43-DDD3-EE02-6A4133974A98}"/>
              </a:ext>
            </a:extLst>
          </p:cNvPr>
          <p:cNvSpPr/>
          <p:nvPr/>
        </p:nvSpPr>
        <p:spPr>
          <a:xfrm>
            <a:off x="2336800" y="19050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3BFF23-1462-B07E-9C5B-2BA7F1315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133600"/>
            <a:ext cx="3200400" cy="3606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AA33A4-22F8-03DE-88BF-112A49C9B7C9}"/>
              </a:ext>
            </a:extLst>
          </p:cNvPr>
          <p:cNvSpPr txBox="1"/>
          <p:nvPr/>
        </p:nvSpPr>
        <p:spPr>
          <a:xfrm>
            <a:off x="5207000" y="2159000"/>
            <a:ext cx="4318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Secure login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Hotel-specific access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Cloud based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Simple to use</a:t>
            </a:r>
          </a:p>
        </p:txBody>
      </p:sp>
    </p:spTree>
    <p:extLst>
      <p:ext uri="{BB962C8B-B14F-4D97-AF65-F5344CB8AC3E}">
        <p14:creationId xmlns:p14="http://schemas.microsoft.com/office/powerpoint/2010/main" val="418348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E1C0-C7A9-6D56-B124-6D9E415E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F97F0-6E4C-319B-CF38-8D28F141A831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0F2D52"/>
                </a:solidFill>
                <a:latin typeface="Poppins" panose="00000500000000000000" pitchFamily="2" charset="0"/>
              </a:rPr>
              <a:t>एका नजरेत संपूर्ण हॉटेल</a:t>
            </a:r>
            <a:endParaRPr lang="en-IN" sz="2800" b="1">
              <a:solidFill>
                <a:srgbClr val="0F2D52"/>
              </a:solidFill>
              <a:latin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336E7-3FD8-C69E-D8AF-09D707BDEF94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Dashboard that shows the operational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C3583-1E31-B6A2-DFAB-4CF4DC65C0A3}"/>
              </a:ext>
            </a:extLst>
          </p:cNvPr>
          <p:cNvSpPr/>
          <p:nvPr/>
        </p:nvSpPr>
        <p:spPr>
          <a:xfrm>
            <a:off x="6604000" y="1524000"/>
            <a:ext cx="3810000" cy="4445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8B48B-BF1B-8414-FA09-680B1D98A94C}"/>
              </a:ext>
            </a:extLst>
          </p:cNvPr>
          <p:cNvSpPr/>
          <p:nvPr/>
        </p:nvSpPr>
        <p:spPr>
          <a:xfrm>
            <a:off x="6731000" y="1828800"/>
            <a:ext cx="3556000" cy="3962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2DA8AC-120A-3CCA-F042-96B2F916A305}"/>
              </a:ext>
            </a:extLst>
          </p:cNvPr>
          <p:cNvSpPr/>
          <p:nvPr/>
        </p:nvSpPr>
        <p:spPr>
          <a:xfrm>
            <a:off x="8178800" y="16510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76D459-8988-3566-366D-25568F1CC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879600"/>
            <a:ext cx="3454400" cy="3860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8978D4-62D7-1E56-BEA0-E26326E25169}"/>
              </a:ext>
            </a:extLst>
          </p:cNvPr>
          <p:cNvSpPr txBox="1"/>
          <p:nvPr/>
        </p:nvSpPr>
        <p:spPr>
          <a:xfrm>
            <a:off x="889000" y="2286000"/>
            <a:ext cx="457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Today's check-ins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Occupancy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Current guests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Reports snapshot</a:t>
            </a:r>
          </a:p>
        </p:txBody>
      </p:sp>
    </p:spTree>
    <p:extLst>
      <p:ext uri="{BB962C8B-B14F-4D97-AF65-F5344CB8AC3E}">
        <p14:creationId xmlns:p14="http://schemas.microsoft.com/office/powerpoint/2010/main" val="321470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A9ED-AFA9-D7B0-8058-2D139F94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1FDA3-7A0D-B396-633A-A725CA782446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Booking </a:t>
            </a:r>
            <a:r>
              <a:rPr lang="hi-IN" sz="2800" b="1">
                <a:solidFill>
                  <a:srgbClr val="0F2D52"/>
                </a:solidFill>
                <a:latin typeface="Poppins" panose="00000500000000000000" pitchFamily="2" charset="0"/>
              </a:rPr>
              <a:t>मधील गोंधळ संपला.</a:t>
            </a:r>
            <a:endParaRPr lang="en-IN" sz="2800" b="1">
              <a:solidFill>
                <a:srgbClr val="0F2D52"/>
              </a:solidFill>
              <a:latin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93E88-0E48-86A8-6101-6DC95AB7E5B5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Future reservation calendar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70011-2183-3284-85F4-BEADB5C8250F}"/>
              </a:ext>
            </a:extLst>
          </p:cNvPr>
          <p:cNvSpPr/>
          <p:nvPr/>
        </p:nvSpPr>
        <p:spPr>
          <a:xfrm>
            <a:off x="6604000" y="1524000"/>
            <a:ext cx="3810000" cy="4445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B875F9-5577-EDC2-ADCF-20E1F59F9A73}"/>
              </a:ext>
            </a:extLst>
          </p:cNvPr>
          <p:cNvSpPr/>
          <p:nvPr/>
        </p:nvSpPr>
        <p:spPr>
          <a:xfrm>
            <a:off x="6731000" y="1828800"/>
            <a:ext cx="3556000" cy="3962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B7F471-837E-07B7-B2F6-888561A3879A}"/>
              </a:ext>
            </a:extLst>
          </p:cNvPr>
          <p:cNvSpPr/>
          <p:nvPr/>
        </p:nvSpPr>
        <p:spPr>
          <a:xfrm>
            <a:off x="8178800" y="16510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48267D-075A-6788-FBBD-CCCC47758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879600"/>
            <a:ext cx="3454400" cy="3860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15A027-B6BA-2A71-5033-3F084AFB9DDB}"/>
              </a:ext>
            </a:extLst>
          </p:cNvPr>
          <p:cNvSpPr txBox="1"/>
          <p:nvPr/>
        </p:nvSpPr>
        <p:spPr>
          <a:xfrm>
            <a:off x="889000" y="2286000"/>
            <a:ext cx="457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Future planning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Occupancy visibility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Availability tracking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Reservation timeline</a:t>
            </a:r>
          </a:p>
        </p:txBody>
      </p:sp>
    </p:spTree>
    <p:extLst>
      <p:ext uri="{BB962C8B-B14F-4D97-AF65-F5344CB8AC3E}">
        <p14:creationId xmlns:p14="http://schemas.microsoft.com/office/powerpoint/2010/main" val="2893365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6F4F1-38A6-7DAF-F6E8-74A0F232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F64FF-B219-A81C-8800-D629518518E6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Booking in less than 1 minute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AF772-3EA6-76E5-C9C1-8B796B3415C5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Quick reservation entry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F3C57-6BBB-1340-0076-DAE51E114EE0}"/>
              </a:ext>
            </a:extLst>
          </p:cNvPr>
          <p:cNvSpPr/>
          <p:nvPr/>
        </p:nvSpPr>
        <p:spPr>
          <a:xfrm>
            <a:off x="6604000" y="1524000"/>
            <a:ext cx="3810000" cy="4445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57EF1-E8FD-24D7-A179-F70745C3B7E1}"/>
              </a:ext>
            </a:extLst>
          </p:cNvPr>
          <p:cNvSpPr/>
          <p:nvPr/>
        </p:nvSpPr>
        <p:spPr>
          <a:xfrm>
            <a:off x="6731000" y="1828800"/>
            <a:ext cx="3556000" cy="3962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4FD13F-7557-E0B8-BB5B-05F3B7FF995D}"/>
              </a:ext>
            </a:extLst>
          </p:cNvPr>
          <p:cNvSpPr/>
          <p:nvPr/>
        </p:nvSpPr>
        <p:spPr>
          <a:xfrm>
            <a:off x="8178800" y="16510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18D12C-14D7-2152-9269-522250553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879600"/>
            <a:ext cx="3454400" cy="3860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2B98AD-38C2-C4AA-5530-75FDDC830EB1}"/>
              </a:ext>
            </a:extLst>
          </p:cNvPr>
          <p:cNvSpPr txBox="1"/>
          <p:nvPr/>
        </p:nvSpPr>
        <p:spPr>
          <a:xfrm>
            <a:off x="889000" y="2286000"/>
            <a:ext cx="457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Walk-in bookings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Future reservations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Advance payment notes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Room allocation</a:t>
            </a:r>
          </a:p>
        </p:txBody>
      </p:sp>
    </p:spTree>
    <p:extLst>
      <p:ext uri="{BB962C8B-B14F-4D97-AF65-F5344CB8AC3E}">
        <p14:creationId xmlns:p14="http://schemas.microsoft.com/office/powerpoint/2010/main" val="3392495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41C-112A-3002-AABC-DF6CE8A8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D6025-4698-74EA-232B-58B1EFE8157A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Guest Registration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FC99F-5F7C-FAC9-5784-DA758D8829C0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Structured digital government-ready register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D0584-B807-CEE2-6E2A-20BCC82DA010}"/>
              </a:ext>
            </a:extLst>
          </p:cNvPr>
          <p:cNvSpPr/>
          <p:nvPr/>
        </p:nvSpPr>
        <p:spPr>
          <a:xfrm>
            <a:off x="6477000" y="1397000"/>
            <a:ext cx="3937000" cy="4572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D31F43-9D41-024D-877C-849FFC430BE5}"/>
              </a:ext>
            </a:extLst>
          </p:cNvPr>
          <p:cNvSpPr/>
          <p:nvPr/>
        </p:nvSpPr>
        <p:spPr>
          <a:xfrm>
            <a:off x="6604000" y="1701800"/>
            <a:ext cx="3683000" cy="4089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BE4294-B194-1C93-AA9E-9FA113FFEC3E}"/>
              </a:ext>
            </a:extLst>
          </p:cNvPr>
          <p:cNvSpPr/>
          <p:nvPr/>
        </p:nvSpPr>
        <p:spPr>
          <a:xfrm>
            <a:off x="8115300" y="15240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147AC-7615-51BF-EC3D-C0FA47C62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752600"/>
            <a:ext cx="3581400" cy="3987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12D583-C911-788B-B5A6-D1E536CF06F2}"/>
              </a:ext>
            </a:extLst>
          </p:cNvPr>
          <p:cNvSpPr txBox="1"/>
          <p:nvPr/>
        </p:nvSpPr>
        <p:spPr>
          <a:xfrm>
            <a:off x="762000" y="2159000"/>
            <a:ext cx="48260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100">
                <a:solidFill>
                  <a:srgbClr val="333333"/>
                </a:solidFill>
                <a:latin typeface="Poppins" panose="00000500000000000000" pitchFamily="2" charset="0"/>
              </a:rPr>
              <a:t>• Guest details</a:t>
            </a:r>
          </a:p>
          <a:p>
            <a:r>
              <a:rPr lang="en-IN" sz="2100">
                <a:solidFill>
                  <a:srgbClr val="333333"/>
                </a:solidFill>
                <a:latin typeface="Poppins" panose="00000500000000000000" pitchFamily="2" charset="0"/>
              </a:rPr>
              <a:t>• ID proof</a:t>
            </a:r>
          </a:p>
          <a:p>
            <a:r>
              <a:rPr lang="en-IN" sz="2100">
                <a:solidFill>
                  <a:srgbClr val="333333"/>
                </a:solidFill>
                <a:latin typeface="Poppins" panose="00000500000000000000" pitchFamily="2" charset="0"/>
              </a:rPr>
              <a:t>• Travel details</a:t>
            </a:r>
          </a:p>
          <a:p>
            <a:r>
              <a:rPr lang="en-IN" sz="2100">
                <a:solidFill>
                  <a:srgbClr val="333333"/>
                </a:solidFill>
                <a:latin typeface="Poppins" panose="00000500000000000000" pitchFamily="2" charset="0"/>
              </a:rPr>
              <a:t>• Stay details</a:t>
            </a:r>
          </a:p>
          <a:p>
            <a:r>
              <a:rPr lang="en-IN" sz="2100">
                <a:solidFill>
                  <a:srgbClr val="333333"/>
                </a:solidFill>
                <a:latin typeface="Poppins" panose="00000500000000000000" pitchFamily="2" charset="0"/>
              </a:rPr>
              <a:t>• Room allocation</a:t>
            </a:r>
          </a:p>
        </p:txBody>
      </p:sp>
    </p:spTree>
    <p:extLst>
      <p:ext uri="{BB962C8B-B14F-4D97-AF65-F5344CB8AC3E}">
        <p14:creationId xmlns:p14="http://schemas.microsoft.com/office/powerpoint/2010/main" val="3491844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AFFC-0438-70DB-EA36-8D966AE7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C92E7-E0AE-46D6-886F-1328441C43C4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Staff Register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E2468-D25E-B5E4-05CD-B6E71A43D35C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Identity, role and joining records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9AF6F-6799-06C1-EE43-69C21F952B69}"/>
              </a:ext>
            </a:extLst>
          </p:cNvPr>
          <p:cNvSpPr/>
          <p:nvPr/>
        </p:nvSpPr>
        <p:spPr>
          <a:xfrm>
            <a:off x="6477000" y="1397000"/>
            <a:ext cx="3937000" cy="4572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C54B7-7B45-90E2-F948-FECBA0BBE2C4}"/>
              </a:ext>
            </a:extLst>
          </p:cNvPr>
          <p:cNvSpPr/>
          <p:nvPr/>
        </p:nvSpPr>
        <p:spPr>
          <a:xfrm>
            <a:off x="6604000" y="1701800"/>
            <a:ext cx="3683000" cy="4089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94FFA-BB81-CA86-B6A7-56EF217A053B}"/>
              </a:ext>
            </a:extLst>
          </p:cNvPr>
          <p:cNvSpPr/>
          <p:nvPr/>
        </p:nvSpPr>
        <p:spPr>
          <a:xfrm>
            <a:off x="8115300" y="15240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730B7-C96F-0E81-787C-67B732163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752600"/>
            <a:ext cx="3581400" cy="3987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701373-918D-834D-255B-610286551349}"/>
              </a:ext>
            </a:extLst>
          </p:cNvPr>
          <p:cNvSpPr txBox="1"/>
          <p:nvPr/>
        </p:nvSpPr>
        <p:spPr>
          <a:xfrm>
            <a:off x="762000" y="2286000"/>
            <a:ext cx="482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Staff records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Identity proof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Joining date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Role and contact</a:t>
            </a:r>
          </a:p>
        </p:txBody>
      </p:sp>
    </p:spTree>
    <p:extLst>
      <p:ext uri="{BB962C8B-B14F-4D97-AF65-F5344CB8AC3E}">
        <p14:creationId xmlns:p14="http://schemas.microsoft.com/office/powerpoint/2010/main" val="1918841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CEE3-EF19-24B7-8A25-E1F62F4E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0EACE-1F6A-BEDA-1D09-E30F6828A366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0F2D52"/>
                </a:solidFill>
                <a:latin typeface="Poppins" panose="00000500000000000000" pitchFamily="2" charset="0"/>
              </a:rPr>
              <a:t>निर्णय अंदाजावर नाही... माहितीवर घ्या.</a:t>
            </a:r>
            <a:endParaRPr lang="en-IN" sz="2800" b="1">
              <a:solidFill>
                <a:srgbClr val="0F2D52"/>
              </a:solidFill>
              <a:latin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A75D4-5102-D712-7553-24CCCF00D833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Reports for current guests and hotel activity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A51D0-0C61-E0A4-D2B6-ECF4CA94B814}"/>
              </a:ext>
            </a:extLst>
          </p:cNvPr>
          <p:cNvSpPr/>
          <p:nvPr/>
        </p:nvSpPr>
        <p:spPr>
          <a:xfrm>
            <a:off x="6350000" y="1460500"/>
            <a:ext cx="4064000" cy="4445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070595-080D-A88D-D2BF-F66A62DD09B5}"/>
              </a:ext>
            </a:extLst>
          </p:cNvPr>
          <p:cNvSpPr/>
          <p:nvPr/>
        </p:nvSpPr>
        <p:spPr>
          <a:xfrm>
            <a:off x="6477000" y="1765300"/>
            <a:ext cx="3810000" cy="3962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15F0A1-1D5E-D0C9-E170-F32ACD53F4B4}"/>
              </a:ext>
            </a:extLst>
          </p:cNvPr>
          <p:cNvSpPr/>
          <p:nvPr/>
        </p:nvSpPr>
        <p:spPr>
          <a:xfrm>
            <a:off x="8051800" y="15875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E1DF27-73C9-1F3E-2C1D-6501AA34A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1816100"/>
            <a:ext cx="3708400" cy="3860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BF6CC6-113B-8248-A992-041DC1C03C99}"/>
              </a:ext>
            </a:extLst>
          </p:cNvPr>
          <p:cNvSpPr txBox="1"/>
          <p:nvPr/>
        </p:nvSpPr>
        <p:spPr>
          <a:xfrm>
            <a:off x="762000" y="2286000"/>
            <a:ext cx="457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Current guest list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Guest register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Operational summaries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Searchable reports</a:t>
            </a:r>
          </a:p>
        </p:txBody>
      </p:sp>
    </p:spTree>
    <p:extLst>
      <p:ext uri="{BB962C8B-B14F-4D97-AF65-F5344CB8AC3E}">
        <p14:creationId xmlns:p14="http://schemas.microsoft.com/office/powerpoint/2010/main" val="1545914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7CA3-31F1-28D3-7BFF-8936E60F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767B9-4F5A-FD4C-C69B-F0A4A6F77670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Guest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4EA6F-B9D5-F13C-21D3-1F8949214BA4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From reservation to reports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CB967-7873-EB33-6F01-B9D787B2DAA4}"/>
              </a:ext>
            </a:extLst>
          </p:cNvPr>
          <p:cNvSpPr txBox="1"/>
          <p:nvPr/>
        </p:nvSpPr>
        <p:spPr>
          <a:xfrm>
            <a:off x="2794000" y="1905000"/>
            <a:ext cx="6604000" cy="48320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Reservation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Arrival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Check-in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Stay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Checkout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1416651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0DB4-1C21-6E94-48D5-65404E8C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CD76A-9479-B434-5204-71FD7126E2AC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Main Benefits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AC4BC-9013-36AB-0BCB-1D7C29BA59BA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What hotels feel from day 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A4883-51B7-3F2B-2D3F-05717F76C0D6}"/>
              </a:ext>
            </a:extLst>
          </p:cNvPr>
          <p:cNvSpPr/>
          <p:nvPr/>
        </p:nvSpPr>
        <p:spPr>
          <a:xfrm>
            <a:off x="762000" y="2032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CBCB8-98E8-083C-4225-D17EDE96A386}"/>
              </a:ext>
            </a:extLst>
          </p:cNvPr>
          <p:cNvSpPr txBox="1"/>
          <p:nvPr/>
        </p:nvSpPr>
        <p:spPr>
          <a:xfrm>
            <a:off x="939800" y="2209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Save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8021D-85BB-CC5D-B4FA-9CFA128DA4B5}"/>
              </a:ext>
            </a:extLst>
          </p:cNvPr>
          <p:cNvSpPr txBox="1"/>
          <p:nvPr/>
        </p:nvSpPr>
        <p:spPr>
          <a:xfrm>
            <a:off x="939800" y="2616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Faster front desk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FE4E6B-D861-E8CC-69DB-F25917837B67}"/>
              </a:ext>
            </a:extLst>
          </p:cNvPr>
          <p:cNvSpPr/>
          <p:nvPr/>
        </p:nvSpPr>
        <p:spPr>
          <a:xfrm>
            <a:off x="3429000" y="2032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6BBD8-618B-2F0D-3EE1-F501370228F6}"/>
              </a:ext>
            </a:extLst>
          </p:cNvPr>
          <p:cNvSpPr txBox="1"/>
          <p:nvPr/>
        </p:nvSpPr>
        <p:spPr>
          <a:xfrm>
            <a:off x="3606800" y="2209800"/>
            <a:ext cx="190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Reduce Mistakes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CB4E0-06ED-A1BE-5587-DC9601A604A6}"/>
              </a:ext>
            </a:extLst>
          </p:cNvPr>
          <p:cNvSpPr txBox="1"/>
          <p:nvPr/>
        </p:nvSpPr>
        <p:spPr>
          <a:xfrm>
            <a:off x="3606800" y="2616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Structured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3098B-49A4-0397-2BB1-02616C560944}"/>
              </a:ext>
            </a:extLst>
          </p:cNvPr>
          <p:cNvSpPr/>
          <p:nvPr/>
        </p:nvSpPr>
        <p:spPr>
          <a:xfrm>
            <a:off x="6096000" y="2032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C6C3B-472E-67FC-997A-9E8577E21C94}"/>
              </a:ext>
            </a:extLst>
          </p:cNvPr>
          <p:cNvSpPr txBox="1"/>
          <p:nvPr/>
        </p:nvSpPr>
        <p:spPr>
          <a:xfrm>
            <a:off x="6273800" y="2209800"/>
            <a:ext cx="190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Digital Register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7A32E-3C49-0DE7-E1A5-CEA05D53299E}"/>
              </a:ext>
            </a:extLst>
          </p:cNvPr>
          <p:cNvSpPr txBox="1"/>
          <p:nvPr/>
        </p:nvSpPr>
        <p:spPr>
          <a:xfrm>
            <a:off x="6273800" y="2616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No paper chasing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2E7A1B-C3E3-BAC2-8527-FE2AED482B34}"/>
              </a:ext>
            </a:extLst>
          </p:cNvPr>
          <p:cNvSpPr/>
          <p:nvPr/>
        </p:nvSpPr>
        <p:spPr>
          <a:xfrm>
            <a:off x="8763000" y="2032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C0E852-D5D8-D15F-CA2E-6708F804EA7F}"/>
              </a:ext>
            </a:extLst>
          </p:cNvPr>
          <p:cNvSpPr txBox="1"/>
          <p:nvPr/>
        </p:nvSpPr>
        <p:spPr>
          <a:xfrm>
            <a:off x="8940800" y="2209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Quick Search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3D6580-26AC-A2FA-A899-BB4AFAE2A81F}"/>
              </a:ext>
            </a:extLst>
          </p:cNvPr>
          <p:cNvSpPr txBox="1"/>
          <p:nvPr/>
        </p:nvSpPr>
        <p:spPr>
          <a:xfrm>
            <a:off x="8940800" y="2616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Find records fast</a:t>
            </a:r>
          </a:p>
        </p:txBody>
      </p:sp>
    </p:spTree>
    <p:extLst>
      <p:ext uri="{BB962C8B-B14F-4D97-AF65-F5344CB8AC3E}">
        <p14:creationId xmlns:p14="http://schemas.microsoft.com/office/powerpoint/2010/main" val="2021172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C2D2-4F34-9392-2CFF-54D6FC74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3BCBF-00C1-D72A-8A91-E0BA5609EB2E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Paper Register vs Checkin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DA827-BB7F-54B8-B854-C355BF693D87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Old process compared with a structured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F9855B-A526-7D15-7929-D2081086668E}"/>
              </a:ext>
            </a:extLst>
          </p:cNvPr>
          <p:cNvSpPr/>
          <p:nvPr/>
        </p:nvSpPr>
        <p:spPr>
          <a:xfrm>
            <a:off x="889000" y="1905000"/>
            <a:ext cx="4826000" cy="34290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B30D7-F7A4-12C7-B21E-DB91D452DD76}"/>
              </a:ext>
            </a:extLst>
          </p:cNvPr>
          <p:cNvSpPr txBox="1"/>
          <p:nvPr/>
        </p:nvSpPr>
        <p:spPr>
          <a:xfrm>
            <a:off x="1117600" y="2133600"/>
            <a:ext cx="317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0F2D52"/>
                </a:solidFill>
                <a:latin typeface="Poppins" panose="00000500000000000000" pitchFamily="2" charset="0"/>
              </a:rPr>
              <a:t>Paper Register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34B01-E81A-37FF-A6BF-8F0E91B9CEDB}"/>
              </a:ext>
            </a:extLst>
          </p:cNvPr>
          <p:cNvSpPr txBox="1"/>
          <p:nvPr/>
        </p:nvSpPr>
        <p:spPr>
          <a:xfrm>
            <a:off x="1117600" y="2692400"/>
            <a:ext cx="406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333333"/>
                </a:solidFill>
                <a:latin typeface="Poppins" panose="00000500000000000000" pitchFamily="2" charset="0"/>
              </a:rPr>
              <a:t>• Slow writing</a:t>
            </a:r>
          </a:p>
          <a:p>
            <a:r>
              <a:rPr lang="en-IN">
                <a:solidFill>
                  <a:srgbClr val="333333"/>
                </a:solidFill>
                <a:latin typeface="Poppins" panose="00000500000000000000" pitchFamily="2" charset="0"/>
              </a:rPr>
              <a:t>• Hard to search</a:t>
            </a:r>
          </a:p>
          <a:p>
            <a:r>
              <a:rPr lang="en-IN">
                <a:solidFill>
                  <a:srgbClr val="333333"/>
                </a:solidFill>
                <a:latin typeface="Poppins" panose="00000500000000000000" pitchFamily="2" charset="0"/>
              </a:rPr>
              <a:t>• Manual confusion</a:t>
            </a:r>
          </a:p>
          <a:p>
            <a:r>
              <a:rPr lang="en-IN">
                <a:solidFill>
                  <a:srgbClr val="333333"/>
                </a:solidFill>
                <a:latin typeface="Poppins" panose="00000500000000000000" pitchFamily="2" charset="0"/>
              </a:rPr>
              <a:t>• Scattered records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03554-FC01-C6A7-E884-D0C9A91E2E01}"/>
              </a:ext>
            </a:extLst>
          </p:cNvPr>
          <p:cNvSpPr/>
          <p:nvPr/>
        </p:nvSpPr>
        <p:spPr>
          <a:xfrm>
            <a:off x="6350000" y="1905000"/>
            <a:ext cx="4826000" cy="3429000"/>
          </a:xfrm>
          <a:prstGeom prst="rect">
            <a:avLst/>
          </a:prstGeom>
          <a:solidFill>
            <a:srgbClr val="0F2D5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D4EF8C-4566-4D83-F7CE-20E461941BA7}"/>
              </a:ext>
            </a:extLst>
          </p:cNvPr>
          <p:cNvSpPr txBox="1"/>
          <p:nvPr/>
        </p:nvSpPr>
        <p:spPr>
          <a:xfrm>
            <a:off x="6578600" y="2133600"/>
            <a:ext cx="317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FAFAFA"/>
                </a:solidFill>
                <a:latin typeface="Poppins" panose="00000500000000000000" pitchFamily="2" charset="0"/>
              </a:rPr>
              <a:t>Checkin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5C2C2F-9088-3C48-0C5D-D0FDB833254D}"/>
              </a:ext>
            </a:extLst>
          </p:cNvPr>
          <p:cNvSpPr txBox="1"/>
          <p:nvPr/>
        </p:nvSpPr>
        <p:spPr>
          <a:xfrm>
            <a:off x="6578600" y="2692400"/>
            <a:ext cx="406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AFAFA"/>
                </a:solidFill>
                <a:latin typeface="Poppins" panose="00000500000000000000" pitchFamily="2" charset="0"/>
              </a:rPr>
              <a:t>• Fast digital entry</a:t>
            </a:r>
          </a:p>
          <a:p>
            <a:r>
              <a:rPr lang="en-IN">
                <a:solidFill>
                  <a:srgbClr val="FAFAFA"/>
                </a:solidFill>
                <a:latin typeface="Poppins" panose="00000500000000000000" pitchFamily="2" charset="0"/>
              </a:rPr>
              <a:t>• Quick search</a:t>
            </a:r>
          </a:p>
          <a:p>
            <a:r>
              <a:rPr lang="en-IN">
                <a:solidFill>
                  <a:srgbClr val="FAFAFA"/>
                </a:solidFill>
                <a:latin typeface="Poppins" panose="00000500000000000000" pitchFamily="2" charset="0"/>
              </a:rPr>
              <a:t>• Structured workflow</a:t>
            </a:r>
          </a:p>
          <a:p>
            <a:r>
              <a:rPr lang="en-IN">
                <a:solidFill>
                  <a:srgbClr val="FAFAFA"/>
                </a:solidFill>
                <a:latin typeface="Poppins" panose="00000500000000000000" pitchFamily="2" charset="0"/>
              </a:rPr>
              <a:t>• Ready reports</a:t>
            </a:r>
          </a:p>
        </p:txBody>
      </p:sp>
    </p:spTree>
    <p:extLst>
      <p:ext uri="{BB962C8B-B14F-4D97-AF65-F5344CB8AC3E}">
        <p14:creationId xmlns:p14="http://schemas.microsoft.com/office/powerpoint/2010/main" val="52214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1687-D3D3-F228-47CB-50D49822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30522-72CE-E657-F1B3-FF9A41FAA89E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Reservation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05051-43DA-4BD8-F578-AA5DED3140E6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Simple operational flow for the hotel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D6714-EAC1-4751-ED8B-A68AC31B4183}"/>
              </a:ext>
            </a:extLst>
          </p:cNvPr>
          <p:cNvSpPr txBox="1"/>
          <p:nvPr/>
        </p:nvSpPr>
        <p:spPr>
          <a:xfrm>
            <a:off x="2159000" y="2095500"/>
            <a:ext cx="7874000" cy="48320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Guest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Reservation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Room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Check-in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Checkout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↓</a:t>
            </a:r>
          </a:p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2028185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5797-AA50-891D-1B6A-83BE34FF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01DBA-57BA-D2C0-AF8B-A8FDCDC3A3BA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Real Benefits at Reception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FDD3B-D4F1-D5C2-71E0-5D83176A8CD8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Less calls. Less confusion. Less errors.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057693-195F-21D4-1EBB-206AE6D6CA08}"/>
              </a:ext>
            </a:extLst>
          </p:cNvPr>
          <p:cNvSpPr/>
          <p:nvPr/>
        </p:nvSpPr>
        <p:spPr>
          <a:xfrm>
            <a:off x="1905000" y="2540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7E9C5-CB46-73AB-CFDA-40782A3A8174}"/>
              </a:ext>
            </a:extLst>
          </p:cNvPr>
          <p:cNvSpPr txBox="1"/>
          <p:nvPr/>
        </p:nvSpPr>
        <p:spPr>
          <a:xfrm>
            <a:off x="2082800" y="271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Less Calls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28697-3897-4F86-429C-A8AB5A220B55}"/>
              </a:ext>
            </a:extLst>
          </p:cNvPr>
          <p:cNvSpPr txBox="1"/>
          <p:nvPr/>
        </p:nvSpPr>
        <p:spPr>
          <a:xfrm>
            <a:off x="2082800" y="3124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Owners get fewer repeated follow-ups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5B93F-6547-FA32-56B4-DA41CAEF1534}"/>
              </a:ext>
            </a:extLst>
          </p:cNvPr>
          <p:cNvSpPr/>
          <p:nvPr/>
        </p:nvSpPr>
        <p:spPr>
          <a:xfrm>
            <a:off x="4953000" y="2540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55D52-92DB-B919-D599-1477C54B3A63}"/>
              </a:ext>
            </a:extLst>
          </p:cNvPr>
          <p:cNvSpPr txBox="1"/>
          <p:nvPr/>
        </p:nvSpPr>
        <p:spPr>
          <a:xfrm>
            <a:off x="5130800" y="2717800"/>
            <a:ext cx="190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Less Confusion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567A66-986E-F106-433F-A14125709EA5}"/>
              </a:ext>
            </a:extLst>
          </p:cNvPr>
          <p:cNvSpPr txBox="1"/>
          <p:nvPr/>
        </p:nvSpPr>
        <p:spPr>
          <a:xfrm>
            <a:off x="5130800" y="3124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Bookings and guests stay organized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588BCA-315A-10A7-EF5C-998E421B0C91}"/>
              </a:ext>
            </a:extLst>
          </p:cNvPr>
          <p:cNvSpPr/>
          <p:nvPr/>
        </p:nvSpPr>
        <p:spPr>
          <a:xfrm>
            <a:off x="8001000" y="2540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F3AD0-CA5F-FFAC-3706-4D8879906ABC}"/>
              </a:ext>
            </a:extLst>
          </p:cNvPr>
          <p:cNvSpPr txBox="1"/>
          <p:nvPr/>
        </p:nvSpPr>
        <p:spPr>
          <a:xfrm>
            <a:off x="8178800" y="271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Less Errors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702AF-2294-D84B-B1BE-F94704B4AE06}"/>
              </a:ext>
            </a:extLst>
          </p:cNvPr>
          <p:cNvSpPr txBox="1"/>
          <p:nvPr/>
        </p:nvSpPr>
        <p:spPr>
          <a:xfrm>
            <a:off x="8178800" y="3124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Structured entry reduces mistakes</a:t>
            </a:r>
          </a:p>
        </p:txBody>
      </p:sp>
    </p:spTree>
    <p:extLst>
      <p:ext uri="{BB962C8B-B14F-4D97-AF65-F5344CB8AC3E}">
        <p14:creationId xmlns:p14="http://schemas.microsoft.com/office/powerpoint/2010/main" val="742165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422F-04E8-A0A6-C58F-A15CCE65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60B9B-4560-C4E5-A3F2-77E5DE3624BB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Hotel Snapshot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2BB86-70AF-67E2-A209-FD2A9FCBEFC3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The owner sees the business at a glance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70B09-460E-6779-ED21-F36B02B2D8BF}"/>
              </a:ext>
            </a:extLst>
          </p:cNvPr>
          <p:cNvSpPr/>
          <p:nvPr/>
        </p:nvSpPr>
        <p:spPr>
          <a:xfrm>
            <a:off x="1397000" y="2286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8954B-4813-9FB7-187F-B026323A1E23}"/>
              </a:ext>
            </a:extLst>
          </p:cNvPr>
          <p:cNvSpPr txBox="1"/>
          <p:nvPr/>
        </p:nvSpPr>
        <p:spPr>
          <a:xfrm>
            <a:off x="1574800" y="2463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Occupancy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19865-91E8-7890-E800-3706932ED4BF}"/>
              </a:ext>
            </a:extLst>
          </p:cNvPr>
          <p:cNvSpPr txBox="1"/>
          <p:nvPr/>
        </p:nvSpPr>
        <p:spPr>
          <a:xfrm>
            <a:off x="1574800" y="2870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Current room status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36D967-BE1C-29D9-CFA1-9CA78FD3C683}"/>
              </a:ext>
            </a:extLst>
          </p:cNvPr>
          <p:cNvSpPr/>
          <p:nvPr/>
        </p:nvSpPr>
        <p:spPr>
          <a:xfrm>
            <a:off x="4191000" y="2286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F335A-DC3D-B549-46CB-E305497E7945}"/>
              </a:ext>
            </a:extLst>
          </p:cNvPr>
          <p:cNvSpPr txBox="1"/>
          <p:nvPr/>
        </p:nvSpPr>
        <p:spPr>
          <a:xfrm>
            <a:off x="4368800" y="2463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Guests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5A5FFF-1B1D-E69A-1065-23BDD348D3FB}"/>
              </a:ext>
            </a:extLst>
          </p:cNvPr>
          <p:cNvSpPr txBox="1"/>
          <p:nvPr/>
        </p:nvSpPr>
        <p:spPr>
          <a:xfrm>
            <a:off x="4368800" y="2870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Active and historical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73544-3856-7E9D-81BD-F94021D7CA81}"/>
              </a:ext>
            </a:extLst>
          </p:cNvPr>
          <p:cNvSpPr/>
          <p:nvPr/>
        </p:nvSpPr>
        <p:spPr>
          <a:xfrm>
            <a:off x="6985000" y="2286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F6669-EE0D-9F7C-F6A5-9C9E41981C21}"/>
              </a:ext>
            </a:extLst>
          </p:cNvPr>
          <p:cNvSpPr txBox="1"/>
          <p:nvPr/>
        </p:nvSpPr>
        <p:spPr>
          <a:xfrm>
            <a:off x="7162800" y="2463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9923AF-DD22-658F-9F71-059742174A3E}"/>
              </a:ext>
            </a:extLst>
          </p:cNvPr>
          <p:cNvSpPr txBox="1"/>
          <p:nvPr/>
        </p:nvSpPr>
        <p:spPr>
          <a:xfrm>
            <a:off x="7162800" y="2870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Decision-ready information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8B85BF-A9DB-0643-D4E4-230ECC876D43}"/>
              </a:ext>
            </a:extLst>
          </p:cNvPr>
          <p:cNvSpPr/>
          <p:nvPr/>
        </p:nvSpPr>
        <p:spPr>
          <a:xfrm>
            <a:off x="4191000" y="3937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CB9F1C-2636-917F-ED8C-50DCE7062BC4}"/>
              </a:ext>
            </a:extLst>
          </p:cNvPr>
          <p:cNvSpPr txBox="1"/>
          <p:nvPr/>
        </p:nvSpPr>
        <p:spPr>
          <a:xfrm>
            <a:off x="4368800" y="4114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Discipline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B2BDFF-3BB8-01A1-3A5D-84CECCE38794}"/>
              </a:ext>
            </a:extLst>
          </p:cNvPr>
          <p:cNvSpPr txBox="1"/>
          <p:nvPr/>
        </p:nvSpPr>
        <p:spPr>
          <a:xfrm>
            <a:off x="4368800" y="4521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Systematic hotel operations</a:t>
            </a:r>
          </a:p>
        </p:txBody>
      </p:sp>
    </p:spTree>
    <p:extLst>
      <p:ext uri="{BB962C8B-B14F-4D97-AF65-F5344CB8AC3E}">
        <p14:creationId xmlns:p14="http://schemas.microsoft.com/office/powerpoint/2010/main" val="2212137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B926-5FE7-4DDD-960A-51056F37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718F9-5C7E-D815-90C4-EF7F1515FCD6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Professional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829AF-0EE7-17D8-DE9B-6B505B553908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Search, filter and export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011C4-D296-0FB6-2754-143AEABE4F8E}"/>
              </a:ext>
            </a:extLst>
          </p:cNvPr>
          <p:cNvSpPr txBox="1"/>
          <p:nvPr/>
        </p:nvSpPr>
        <p:spPr>
          <a:xfrm>
            <a:off x="889000" y="2286000"/>
            <a:ext cx="4445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Professional report pages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CSV export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Fast search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Daily operational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D70876-278C-D1FE-8B60-709B4F60D5B3}"/>
              </a:ext>
            </a:extLst>
          </p:cNvPr>
          <p:cNvSpPr/>
          <p:nvPr/>
        </p:nvSpPr>
        <p:spPr>
          <a:xfrm>
            <a:off x="6350000" y="1460500"/>
            <a:ext cx="4064000" cy="4572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9C2E8-60DE-771B-1B34-6DAC14740429}"/>
              </a:ext>
            </a:extLst>
          </p:cNvPr>
          <p:cNvSpPr/>
          <p:nvPr/>
        </p:nvSpPr>
        <p:spPr>
          <a:xfrm>
            <a:off x="6477000" y="1765300"/>
            <a:ext cx="3810000" cy="4089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B5419-728E-B40E-F5D3-212F0A85E852}"/>
              </a:ext>
            </a:extLst>
          </p:cNvPr>
          <p:cNvSpPr/>
          <p:nvPr/>
        </p:nvSpPr>
        <p:spPr>
          <a:xfrm>
            <a:off x="8051800" y="15875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561385-1286-BA45-C16B-569C23FBA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1816100"/>
            <a:ext cx="37084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82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9A739-31A2-2804-C042-DBBAECF9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B1034-74CA-C4EC-3071-C49F44B13B88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Speed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0369A-0886-403D-026E-BAA42504D7BD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Everything within one minute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49ED-F7D5-B8C3-3BE6-EB359C3E8AF8}"/>
              </a:ext>
            </a:extLst>
          </p:cNvPr>
          <p:cNvSpPr txBox="1"/>
          <p:nvPr/>
        </p:nvSpPr>
        <p:spPr>
          <a:xfrm>
            <a:off x="1651000" y="2159000"/>
            <a:ext cx="8636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Reservation, guest entry, QR generation, and report access are designed to be quick enough for real reception work.</a:t>
            </a:r>
          </a:p>
        </p:txBody>
      </p:sp>
    </p:spTree>
    <p:extLst>
      <p:ext uri="{BB962C8B-B14F-4D97-AF65-F5344CB8AC3E}">
        <p14:creationId xmlns:p14="http://schemas.microsoft.com/office/powerpoint/2010/main" val="1752449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6733F-E8CD-2B12-FE8B-8BA3B09B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D608B-94D0-0BA0-8F1B-FCB1ABCE7D09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Simple Interface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3FDD2-0910-1808-1158-7ED3D7C074BF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Few clicks. Large controls. Mobile-friendly use.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C0E39-8B79-EB40-9FB3-31F420A5AD3F}"/>
              </a:ext>
            </a:extLst>
          </p:cNvPr>
          <p:cNvSpPr/>
          <p:nvPr/>
        </p:nvSpPr>
        <p:spPr>
          <a:xfrm>
            <a:off x="4127500" y="1587500"/>
            <a:ext cx="3810000" cy="431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97CC69-CCE1-7F13-3434-81FD73D527C1}"/>
              </a:ext>
            </a:extLst>
          </p:cNvPr>
          <p:cNvSpPr/>
          <p:nvPr/>
        </p:nvSpPr>
        <p:spPr>
          <a:xfrm>
            <a:off x="4254500" y="1892300"/>
            <a:ext cx="3556000" cy="3835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8185A-FB64-9C83-E6F7-5C25142A1460}"/>
              </a:ext>
            </a:extLst>
          </p:cNvPr>
          <p:cNvSpPr/>
          <p:nvPr/>
        </p:nvSpPr>
        <p:spPr>
          <a:xfrm>
            <a:off x="5702300" y="17145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777531-62D1-133A-44DD-6415BBBB6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943100"/>
            <a:ext cx="3454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7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0205-3853-86C2-D7AC-D0CB2AF7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630D6-B5BE-A337-EED0-E302C70DF331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C16BD-BE5D-4BCF-EC2B-49045F5E52E8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Cloud, backups and role-based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C2E9D-8E04-FF2B-C4F5-5CF4FF5D1F2A}"/>
              </a:ext>
            </a:extLst>
          </p:cNvPr>
          <p:cNvSpPr txBox="1"/>
          <p:nvPr/>
        </p:nvSpPr>
        <p:spPr>
          <a:xfrm>
            <a:off x="889000" y="2286000"/>
            <a:ext cx="45720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Cloud-based access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Hotel-owned Google Drive storage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Role-based access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Controlled police-ready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8F9B46-8615-522D-A96F-6EA552D59EEC}"/>
              </a:ext>
            </a:extLst>
          </p:cNvPr>
          <p:cNvSpPr/>
          <p:nvPr/>
        </p:nvSpPr>
        <p:spPr>
          <a:xfrm>
            <a:off x="7112000" y="2286000"/>
            <a:ext cx="2794000" cy="2794000"/>
          </a:xfrm>
          <a:prstGeom prst="rect">
            <a:avLst/>
          </a:prstGeom>
          <a:solidFill>
            <a:srgbClr val="0F2D5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673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BB68-ADF3-D11B-20FE-F20C4D89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BD974-E69A-DACD-2E89-D48668F9E0D3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Works Anywhere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8FEEC-E2A5-0A09-79C6-8334A803CCF2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Mobile, tablet and desktop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567A07-A6ED-173B-E1B9-4AD4ECC615D9}"/>
              </a:ext>
            </a:extLst>
          </p:cNvPr>
          <p:cNvSpPr/>
          <p:nvPr/>
        </p:nvSpPr>
        <p:spPr>
          <a:xfrm>
            <a:off x="1524000" y="2667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B720C-97D7-AB7F-93C0-2EFABF4070F0}"/>
              </a:ext>
            </a:extLst>
          </p:cNvPr>
          <p:cNvSpPr txBox="1"/>
          <p:nvPr/>
        </p:nvSpPr>
        <p:spPr>
          <a:xfrm>
            <a:off x="1701800" y="2844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Mobile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C5B3E-E860-8C28-0552-4E67F2D3C9FD}"/>
              </a:ext>
            </a:extLst>
          </p:cNvPr>
          <p:cNvSpPr txBox="1"/>
          <p:nvPr/>
        </p:nvSpPr>
        <p:spPr>
          <a:xfrm>
            <a:off x="1701800" y="3251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Reception friendly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47FD82-112A-7154-7B56-F374F12826F2}"/>
              </a:ext>
            </a:extLst>
          </p:cNvPr>
          <p:cNvSpPr/>
          <p:nvPr/>
        </p:nvSpPr>
        <p:spPr>
          <a:xfrm>
            <a:off x="4953000" y="2667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91418-69F1-A929-5B3A-41E4AE330C6D}"/>
              </a:ext>
            </a:extLst>
          </p:cNvPr>
          <p:cNvSpPr txBox="1"/>
          <p:nvPr/>
        </p:nvSpPr>
        <p:spPr>
          <a:xfrm>
            <a:off x="5130800" y="2844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Tablet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099D0-330F-BA03-565E-85CA849C2DD5}"/>
              </a:ext>
            </a:extLst>
          </p:cNvPr>
          <p:cNvSpPr txBox="1"/>
          <p:nvPr/>
        </p:nvSpPr>
        <p:spPr>
          <a:xfrm>
            <a:off x="5130800" y="3251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Desk use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508008-C4A1-781A-B7FE-C5DF1DDB277F}"/>
              </a:ext>
            </a:extLst>
          </p:cNvPr>
          <p:cNvSpPr/>
          <p:nvPr/>
        </p:nvSpPr>
        <p:spPr>
          <a:xfrm>
            <a:off x="8382000" y="2667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A7C49-92D7-B99E-0A8A-DF6125A30B84}"/>
              </a:ext>
            </a:extLst>
          </p:cNvPr>
          <p:cNvSpPr txBox="1"/>
          <p:nvPr/>
        </p:nvSpPr>
        <p:spPr>
          <a:xfrm>
            <a:off x="8559800" y="2844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Desktop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D4211F-355D-B6BA-3A96-7C329CA94910}"/>
              </a:ext>
            </a:extLst>
          </p:cNvPr>
          <p:cNvSpPr txBox="1"/>
          <p:nvPr/>
        </p:nvSpPr>
        <p:spPr>
          <a:xfrm>
            <a:off x="8559800" y="3251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Office use</a:t>
            </a:r>
          </a:p>
        </p:txBody>
      </p:sp>
    </p:spTree>
    <p:extLst>
      <p:ext uri="{BB962C8B-B14F-4D97-AF65-F5344CB8AC3E}">
        <p14:creationId xmlns:p14="http://schemas.microsoft.com/office/powerpoint/2010/main" val="2054557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3328-086D-460A-7C0B-89214F31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5027D-FC45-1651-C642-DD145E5C9D65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87DDD-D3D3-03CC-E551-513B60C3638B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English, Marathi, Phone and WhatsApp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EC64B-FB95-B6A7-4479-44772E3F38A6}"/>
              </a:ext>
            </a:extLst>
          </p:cNvPr>
          <p:cNvSpPr txBox="1"/>
          <p:nvPr/>
        </p:nvSpPr>
        <p:spPr>
          <a:xfrm>
            <a:off x="889000" y="2413000"/>
            <a:ext cx="457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English support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Marathi support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Phone guidance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WhatsApp assistance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95799-F493-CC92-2F6F-1E7EFDE10E13}"/>
              </a:ext>
            </a:extLst>
          </p:cNvPr>
          <p:cNvSpPr txBox="1"/>
          <p:nvPr/>
        </p:nvSpPr>
        <p:spPr>
          <a:xfrm>
            <a:off x="6350000" y="2286000"/>
            <a:ext cx="406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F2D52"/>
                </a:solidFill>
                <a:latin typeface="Poppins" panose="00000500000000000000" pitchFamily="2" charset="0"/>
              </a:rPr>
              <a:t>Support that hotel owners can actually use.</a:t>
            </a:r>
          </a:p>
        </p:txBody>
      </p:sp>
    </p:spTree>
    <p:extLst>
      <p:ext uri="{BB962C8B-B14F-4D97-AF65-F5344CB8AC3E}">
        <p14:creationId xmlns:p14="http://schemas.microsoft.com/office/powerpoint/2010/main" val="3265823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5B47-F39D-2476-715A-1F0DC305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5E32C-23FA-30D6-B3E2-C06F904C6739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Who is it for?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FCFBD-C77C-F06D-B3CF-8E113D643AE4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Made for hospitality businesses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D05EC4-BBC3-21D6-1B2C-72EEDD71D441}"/>
              </a:ext>
            </a:extLst>
          </p:cNvPr>
          <p:cNvSpPr/>
          <p:nvPr/>
        </p:nvSpPr>
        <p:spPr>
          <a:xfrm>
            <a:off x="1016000" y="2159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7EC5A-FD50-5CF7-1492-3E1E37F29A18}"/>
              </a:ext>
            </a:extLst>
          </p:cNvPr>
          <p:cNvSpPr txBox="1"/>
          <p:nvPr/>
        </p:nvSpPr>
        <p:spPr>
          <a:xfrm>
            <a:off x="1193800" y="2336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4F965-AAFA-1157-3B8C-535929A89DDA}"/>
              </a:ext>
            </a:extLst>
          </p:cNvPr>
          <p:cNvSpPr txBox="1"/>
          <p:nvPr/>
        </p:nvSpPr>
        <p:spPr>
          <a:xfrm>
            <a:off x="1193800" y="2743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Daily guest operations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B9C421-B9D9-F1D8-9434-83C8C500A770}"/>
              </a:ext>
            </a:extLst>
          </p:cNvPr>
          <p:cNvSpPr/>
          <p:nvPr/>
        </p:nvSpPr>
        <p:spPr>
          <a:xfrm>
            <a:off x="3683000" y="2159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25A89-4F38-BE33-BC02-D131D15A1F5C}"/>
              </a:ext>
            </a:extLst>
          </p:cNvPr>
          <p:cNvSpPr txBox="1"/>
          <p:nvPr/>
        </p:nvSpPr>
        <p:spPr>
          <a:xfrm>
            <a:off x="3860800" y="2336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Resorts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768F3-C8A1-7398-5073-18CFC8D25C4E}"/>
              </a:ext>
            </a:extLst>
          </p:cNvPr>
          <p:cNvSpPr txBox="1"/>
          <p:nvPr/>
        </p:nvSpPr>
        <p:spPr>
          <a:xfrm>
            <a:off x="3860800" y="2743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Structured front desk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ED5323-0808-5762-2D5E-6AE687513FAF}"/>
              </a:ext>
            </a:extLst>
          </p:cNvPr>
          <p:cNvSpPr/>
          <p:nvPr/>
        </p:nvSpPr>
        <p:spPr>
          <a:xfrm>
            <a:off x="6350000" y="2159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2269C-0BB9-99A2-54F5-F860394A5A7D}"/>
              </a:ext>
            </a:extLst>
          </p:cNvPr>
          <p:cNvSpPr txBox="1"/>
          <p:nvPr/>
        </p:nvSpPr>
        <p:spPr>
          <a:xfrm>
            <a:off x="6527800" y="2336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Homestays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CC7D1-74A1-AF36-2318-2F80AEDA84A9}"/>
              </a:ext>
            </a:extLst>
          </p:cNvPr>
          <p:cNvSpPr txBox="1"/>
          <p:nvPr/>
        </p:nvSpPr>
        <p:spPr>
          <a:xfrm>
            <a:off x="6527800" y="2743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Simple digital records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C0DEAC-726F-A902-FBC3-B91BEA24D2FA}"/>
              </a:ext>
            </a:extLst>
          </p:cNvPr>
          <p:cNvSpPr/>
          <p:nvPr/>
        </p:nvSpPr>
        <p:spPr>
          <a:xfrm>
            <a:off x="2349500" y="3810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1B5F4B-4880-60E2-74B1-18E6C6FFDB39}"/>
              </a:ext>
            </a:extLst>
          </p:cNvPr>
          <p:cNvSpPr txBox="1"/>
          <p:nvPr/>
        </p:nvSpPr>
        <p:spPr>
          <a:xfrm>
            <a:off x="2527300" y="398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Lodges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26E9B-96FE-08F0-5ABA-5ABFE15800EA}"/>
              </a:ext>
            </a:extLst>
          </p:cNvPr>
          <p:cNvSpPr txBox="1"/>
          <p:nvPr/>
        </p:nvSpPr>
        <p:spPr>
          <a:xfrm>
            <a:off x="2527300" y="4394200"/>
            <a:ext cx="190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Fast check-in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04538B-1794-4623-9550-2ACFF5741AA9}"/>
              </a:ext>
            </a:extLst>
          </p:cNvPr>
          <p:cNvSpPr/>
          <p:nvPr/>
        </p:nvSpPr>
        <p:spPr>
          <a:xfrm>
            <a:off x="5016500" y="3810000"/>
            <a:ext cx="228600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F4F6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46B09-9AD9-3573-5F60-BA1C130E93BE}"/>
              </a:ext>
            </a:extLst>
          </p:cNvPr>
          <p:cNvSpPr txBox="1"/>
          <p:nvPr/>
        </p:nvSpPr>
        <p:spPr>
          <a:xfrm>
            <a:off x="5194300" y="398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F2D52"/>
                </a:solidFill>
                <a:latin typeface="Poppins" panose="00000500000000000000" pitchFamily="2" charset="0"/>
              </a:rPr>
              <a:t>Villas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045AFD-C14C-E358-8AFE-DCC673B29B9D}"/>
              </a:ext>
            </a:extLst>
          </p:cNvPr>
          <p:cNvSpPr txBox="1"/>
          <p:nvPr/>
        </p:nvSpPr>
        <p:spPr>
          <a:xfrm>
            <a:off x="5194300" y="4394200"/>
            <a:ext cx="190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333333"/>
                </a:solidFill>
                <a:latin typeface="Poppins" panose="00000500000000000000" pitchFamily="2" charset="0"/>
              </a:rPr>
              <a:t>Property-wise control</a:t>
            </a:r>
          </a:p>
        </p:txBody>
      </p:sp>
    </p:spTree>
    <p:extLst>
      <p:ext uri="{BB962C8B-B14F-4D97-AF65-F5344CB8AC3E}">
        <p14:creationId xmlns:p14="http://schemas.microsoft.com/office/powerpoint/2010/main" val="2036403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2373-B367-F497-8272-344E1FA7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31769-F082-B11B-267C-1441B0016790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Why Choose Checkin?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182A4-7EEC-C565-C87B-EB1A5DA48751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Built to be practical, affordable and reliable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198DE-745B-08BD-8837-592DF515CB18}"/>
              </a:ext>
            </a:extLst>
          </p:cNvPr>
          <p:cNvSpPr txBox="1"/>
          <p:nvPr/>
        </p:nvSpPr>
        <p:spPr>
          <a:xfrm>
            <a:off x="889000" y="2286000"/>
            <a:ext cx="457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Easy to understand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Affordable room-wise pricing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Reliable workflow</a:t>
            </a:r>
          </a:p>
          <a:p>
            <a:r>
              <a:rPr lang="en-IN" sz="2200">
                <a:solidFill>
                  <a:srgbClr val="333333"/>
                </a:solidFill>
                <a:latin typeface="Poppins" panose="00000500000000000000" pitchFamily="2" charset="0"/>
              </a:rPr>
              <a:t>• Built by a hotel owner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F196F-881D-8607-CF34-21AA5F4DA4E4}"/>
              </a:ext>
            </a:extLst>
          </p:cNvPr>
          <p:cNvSpPr/>
          <p:nvPr/>
        </p:nvSpPr>
        <p:spPr>
          <a:xfrm>
            <a:off x="6604000" y="1524000"/>
            <a:ext cx="3810000" cy="4445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1E90F-27B7-43B5-1372-39BAA5D824EA}"/>
              </a:ext>
            </a:extLst>
          </p:cNvPr>
          <p:cNvSpPr/>
          <p:nvPr/>
        </p:nvSpPr>
        <p:spPr>
          <a:xfrm>
            <a:off x="6731000" y="1828800"/>
            <a:ext cx="3556000" cy="39624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3294D-4586-E629-509C-21F9BBC7CA90}"/>
              </a:ext>
            </a:extLst>
          </p:cNvPr>
          <p:cNvSpPr/>
          <p:nvPr/>
        </p:nvSpPr>
        <p:spPr>
          <a:xfrm>
            <a:off x="8178800" y="1651000"/>
            <a:ext cx="660400" cy="762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2E9AAB-2684-AEAC-8470-391198592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879600"/>
            <a:ext cx="34544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61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D628-FFA6-4CFE-B784-D476BED1B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D80F29-1AB9-0BAF-082A-CC04055AADAE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AFAFA"/>
                </a:solidFill>
                <a:latin typeface="Poppins" panose="00000500000000000000" pitchFamily="2" charset="0"/>
              </a:rPr>
              <a:t>Start Free Trial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88D12-1AA5-D8A4-145B-5880BEA14846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FAFAFA"/>
                </a:solidFill>
                <a:latin typeface="Poppins" panose="00000500000000000000" pitchFamily="2" charset="0"/>
              </a:rPr>
              <a:t>Book demo and see the system in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89805-9219-BCA7-5FD7-6AE75D508D05}"/>
              </a:ext>
            </a:extLst>
          </p:cNvPr>
          <p:cNvSpPr txBox="1"/>
          <p:nvPr/>
        </p:nvSpPr>
        <p:spPr>
          <a:xfrm>
            <a:off x="889000" y="2286000"/>
            <a:ext cx="4826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100">
                <a:solidFill>
                  <a:srgbClr val="FAFAFA"/>
                </a:solidFill>
                <a:latin typeface="Poppins" panose="00000500000000000000" pitchFamily="2" charset="0"/>
              </a:rPr>
              <a:t>• Free trial till 31 October 2026</a:t>
            </a:r>
          </a:p>
          <a:p>
            <a:r>
              <a:rPr lang="en-IN" sz="2100">
                <a:solidFill>
                  <a:srgbClr val="FAFAFA"/>
                </a:solidFill>
                <a:latin typeface="Poppins" panose="00000500000000000000" pitchFamily="2" charset="0"/>
              </a:rPr>
              <a:t>• Charges apply from 1 November 2026</a:t>
            </a:r>
          </a:p>
          <a:p>
            <a:r>
              <a:rPr lang="en-IN" sz="2100">
                <a:solidFill>
                  <a:srgbClr val="FAFAFA"/>
                </a:solidFill>
                <a:latin typeface="Poppins" panose="00000500000000000000" pitchFamily="2" charset="0"/>
              </a:rPr>
              <a:t>• Live demo available</a:t>
            </a:r>
          </a:p>
          <a:p>
            <a:r>
              <a:rPr lang="en-IN" sz="2100">
                <a:solidFill>
                  <a:srgbClr val="FAFAFA"/>
                </a:solidFill>
                <a:latin typeface="Poppins" panose="00000500000000000000" pitchFamily="2" charset="0"/>
              </a:rPr>
              <a:t>• QR placeholder for brochure or meeting use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57CD5B-4AF8-528D-1F2F-DB969E49B6CC}"/>
              </a:ext>
            </a:extLst>
          </p:cNvPr>
          <p:cNvSpPr/>
          <p:nvPr/>
        </p:nvSpPr>
        <p:spPr>
          <a:xfrm>
            <a:off x="7747000" y="2159000"/>
            <a:ext cx="2286000" cy="2286000"/>
          </a:xfrm>
          <a:prstGeom prst="rect">
            <a:avLst/>
          </a:prstGeom>
          <a:solidFill>
            <a:srgbClr val="FA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DB503-08D9-A11E-B326-6C3E23433A73}"/>
              </a:ext>
            </a:extLst>
          </p:cNvPr>
          <p:cNvSpPr txBox="1"/>
          <p:nvPr/>
        </p:nvSpPr>
        <p:spPr>
          <a:xfrm>
            <a:off x="7874000" y="4635500"/>
            <a:ext cx="2286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AFAFA"/>
                </a:solidFill>
                <a:latin typeface="Poppins" panose="00000500000000000000" pitchFamily="2" charset="0"/>
              </a:rPr>
              <a:t>QR Placeholder</a:t>
            </a:r>
          </a:p>
        </p:txBody>
      </p:sp>
    </p:spTree>
    <p:extLst>
      <p:ext uri="{BB962C8B-B14F-4D97-AF65-F5344CB8AC3E}">
        <p14:creationId xmlns:p14="http://schemas.microsoft.com/office/powerpoint/2010/main" val="826089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4420-CE70-B17A-5B67-44813089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02CE0-BA04-748E-0735-EF67A8F17FE9}"/>
              </a:ext>
            </a:extLst>
          </p:cNvPr>
          <p:cNvSpPr txBox="1"/>
          <p:nvPr/>
        </p:nvSpPr>
        <p:spPr>
          <a:xfrm>
            <a:off x="660400" y="5334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0F2D52"/>
                </a:solidFill>
                <a:latin typeface="Poppins" panose="00000500000000000000" pitchFamily="2" charset="0"/>
              </a:rPr>
              <a:t>Contact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209BA-A483-5352-C799-24F872B3CAEF}"/>
              </a:ext>
            </a:extLst>
          </p:cNvPr>
          <p:cNvSpPr txBox="1"/>
          <p:nvPr/>
        </p:nvSpPr>
        <p:spPr>
          <a:xfrm>
            <a:off x="660400" y="1168400"/>
            <a:ext cx="10414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700">
                <a:solidFill>
                  <a:srgbClr val="333333"/>
                </a:solidFill>
                <a:latin typeface="Poppins" panose="00000500000000000000" pitchFamily="2" charset="0"/>
              </a:rPr>
              <a:t>Let us show how Checkin can fit your hotel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9CF94-57F2-28CE-846B-683C2852DB44}"/>
              </a:ext>
            </a:extLst>
          </p:cNvPr>
          <p:cNvSpPr txBox="1"/>
          <p:nvPr/>
        </p:nvSpPr>
        <p:spPr>
          <a:xfrm>
            <a:off x="1143000" y="2159000"/>
            <a:ext cx="6350000" cy="24929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0F2D52"/>
                </a:solidFill>
                <a:latin typeface="Poppins" panose="00000500000000000000" pitchFamily="2" charset="0"/>
              </a:rPr>
              <a:t>CHECKIN</a:t>
            </a:r>
          </a:p>
          <a:p>
            <a:r>
              <a:rPr lang="en-IN" sz="2600" b="1">
                <a:solidFill>
                  <a:srgbClr val="0F2D52"/>
                </a:solidFill>
                <a:latin typeface="Poppins" panose="00000500000000000000" pitchFamily="2" charset="0"/>
              </a:rPr>
              <a:t>WhatsApp</a:t>
            </a:r>
          </a:p>
          <a:p>
            <a:r>
              <a:rPr lang="en-IN" sz="2600" b="1">
                <a:solidFill>
                  <a:srgbClr val="0F2D52"/>
                </a:solidFill>
                <a:latin typeface="Poppins" panose="00000500000000000000" pitchFamily="2" charset="0"/>
              </a:rPr>
              <a:t>+91 72089 93899</a:t>
            </a:r>
          </a:p>
          <a:p>
            <a:r>
              <a:rPr lang="en-IN" sz="2600" b="1">
                <a:solidFill>
                  <a:srgbClr val="0F2D52"/>
                </a:solidFill>
                <a:latin typeface="Poppins" panose="00000500000000000000" pitchFamily="2" charset="0"/>
              </a:rPr>
              <a:t>Email</a:t>
            </a:r>
          </a:p>
          <a:p>
            <a:r>
              <a:rPr lang="en-IN" sz="2600" b="1">
                <a:solidFill>
                  <a:srgbClr val="0F2D52"/>
                </a:solidFill>
                <a:latin typeface="Poppins" panose="00000500000000000000" pitchFamily="2" charset="0"/>
              </a:rPr>
              <a:t>checkin.hotelsinalibaug@gmail.com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4AAC9C-FA80-C3BC-5942-138F979B79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651000"/>
            <a:ext cx="355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10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DB06-F507-61B0-29AF-13F28A5F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002E5-D9A5-B792-D644-8B25BCA2A250}"/>
              </a:ext>
            </a:extLst>
          </p:cNvPr>
          <p:cNvSpPr txBox="1"/>
          <p:nvPr/>
        </p:nvSpPr>
        <p:spPr>
          <a:xfrm>
            <a:off x="1524000" y="1778000"/>
            <a:ext cx="9144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3000" b="1">
                <a:solidFill>
                  <a:srgbClr val="FAFAFA"/>
                </a:solidFill>
                <a:latin typeface="Poppins" panose="00000500000000000000" pitchFamily="2" charset="0"/>
              </a:rPr>
              <a:t>तुम्ही पाहुण्यांची काळजी घ्या...</a:t>
            </a:r>
          </a:p>
          <a:p>
            <a:r>
              <a:rPr lang="hi-IN" sz="3000" b="1">
                <a:solidFill>
                  <a:srgbClr val="FAFAFA"/>
                </a:solidFill>
                <a:latin typeface="Poppins" panose="00000500000000000000" pitchFamily="2" charset="0"/>
              </a:rPr>
              <a:t>व्यवस्थापनाची काळजी</a:t>
            </a:r>
          </a:p>
          <a:p>
            <a:r>
              <a:rPr lang="en-IN" sz="3000" b="1">
                <a:solidFill>
                  <a:srgbClr val="FAFAFA"/>
                </a:solidFill>
                <a:latin typeface="Poppins" panose="00000500000000000000" pitchFamily="2" charset="0"/>
              </a:rPr>
              <a:t>CHECKIN</a:t>
            </a:r>
          </a:p>
          <a:p>
            <a:r>
              <a:rPr lang="hi-IN" sz="3000" b="1">
                <a:solidFill>
                  <a:srgbClr val="FAFAFA"/>
                </a:solidFill>
                <a:latin typeface="Poppins" panose="00000500000000000000" pitchFamily="2" charset="0"/>
              </a:rPr>
              <a:t>घेईल.</a:t>
            </a:r>
            <a:endParaRPr lang="en-IN" sz="3000" b="1">
              <a:solidFill>
                <a:srgbClr val="FAFAFA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87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Custom</PresentationFormat>
  <Paragraphs>210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Patil</dc:creator>
  <cp:lastModifiedBy>Girish Patil</cp:lastModifiedBy>
  <cp:revision>1</cp:revision>
  <dcterms:created xsi:type="dcterms:W3CDTF">2026-07-20T15:55:23Z</dcterms:created>
  <dcterms:modified xsi:type="dcterms:W3CDTF">2026-07-20T15:55:23Z</dcterms:modified>
</cp:coreProperties>
</file>